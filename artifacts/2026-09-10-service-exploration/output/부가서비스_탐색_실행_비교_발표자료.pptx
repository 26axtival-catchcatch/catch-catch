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5430f2d9fe4d01" /><Relationship Type="http://schemas.openxmlformats.org/officeDocument/2006/relationships/extended-properties" Target="/docProps/app.xml" Id="R7387d74735bc4503" /><Relationship Type="http://schemas.openxmlformats.org/officeDocument/2006/relationships/officeDocument" Target="/ppt/presentation.xml" Id="Rb91c99a2661c4a65" /></Relationships>
</file>

<file path=ppt/presentation.xml><?xml version="1.0" encoding="utf-8"?>
<p:presentation xmlns:p="http://schemas.openxmlformats.org/presentationml/2006/main">
  <p:sldMasterIdLst>
    <p:sldMasterId xmlns:r="http://schemas.openxmlformats.org/officeDocument/2006/relationships" id="2147483648" r:id="R56b2a80327924dbc"/>
  </p:sldMasterIdLst>
  <p:notesMasterIdLst>
    <p:notesMasterId xmlns:r="http://schemas.openxmlformats.org/officeDocument/2006/relationships" r:id="R3c18741b6b6c48c3"/>
  </p:notesMasterIdLst>
  <p:sldIdLst>
    <p:sldId xmlns:r="http://schemas.openxmlformats.org/officeDocument/2006/relationships" id="256" r:id="Rdfb2239191f04f32"/>
    <p:sldId xmlns:r="http://schemas.openxmlformats.org/officeDocument/2006/relationships" id="257" r:id="R5606ba9817354a45"/>
    <p:sldId xmlns:r="http://schemas.openxmlformats.org/officeDocument/2006/relationships" id="258" r:id="R9ee1649dbe064d5f"/>
    <p:sldId xmlns:r="http://schemas.openxmlformats.org/officeDocument/2006/relationships" id="259" r:id="R7ece310667d3498a"/>
    <p:sldId xmlns:r="http://schemas.openxmlformats.org/officeDocument/2006/relationships" id="260" r:id="Rf0815244a76941b1"/>
    <p:sldId xmlns:r="http://schemas.openxmlformats.org/officeDocument/2006/relationships" id="261" r:id="R6bb0718f0fad45cd"/>
    <p:sldId xmlns:r="http://schemas.openxmlformats.org/officeDocument/2006/relationships" id="262" r:id="Rcb74fea054334701"/>
    <p:sldId xmlns:r="http://schemas.openxmlformats.org/officeDocument/2006/relationships" id="263" r:id="R3d8ffb08cf1640cd"/>
    <p:sldId xmlns:r="http://schemas.openxmlformats.org/officeDocument/2006/relationships" id="264" r:id="R157c8c43524747ed"/>
    <p:sldId xmlns:r="http://schemas.openxmlformats.org/officeDocument/2006/relationships" id="265" r:id="Race44cfa20cf4ea9"/>
    <p:sldId xmlns:r="http://schemas.openxmlformats.org/officeDocument/2006/relationships" id="266" r:id="R82e069b1ee4842b6"/>
    <p:sldId xmlns:r="http://schemas.openxmlformats.org/officeDocument/2006/relationships" id="267" r:id="Rc930435d278941f2"/>
    <p:sldId xmlns:r="http://schemas.openxmlformats.org/officeDocument/2006/relationships" id="268" r:id="R8e456bd8c070431d"/>
    <p:sldId xmlns:r="http://schemas.openxmlformats.org/officeDocument/2006/relationships" id="269" r:id="R9748175c448d4b80"/>
    <p:sldId xmlns:r="http://schemas.openxmlformats.org/officeDocument/2006/relationships" id="270" r:id="Rb7d6b495bc594e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6cbf14dc934181" /><Relationship Type="http://schemas.openxmlformats.org/officeDocument/2006/relationships/slideMaster" Target="/ppt/slideMasters/slideMaster1.xml" Id="R56b2a80327924dbc" /><Relationship Type="http://schemas.openxmlformats.org/officeDocument/2006/relationships/notesMaster" Target="/ppt/notesMasters/notesMaster1.xml" Id="R3c18741b6b6c48c3" /><Relationship Type="http://schemas.openxmlformats.org/officeDocument/2006/relationships/presProps" Target="/ppt/presProps.xml" Id="R4b78f43014804f9e" /><Relationship Type="http://schemas.openxmlformats.org/officeDocument/2006/relationships/tableStyles" Target="/ppt/tableStyles.xml" Id="R40e9302a89d64661" /><Relationship Type="http://schemas.openxmlformats.org/officeDocument/2006/relationships/slide" Target="/ppt/slides/slide1.xml" Id="Rdfb2239191f04f32" /><Relationship Type="http://schemas.openxmlformats.org/officeDocument/2006/relationships/slide" Target="/ppt/slides/slide2.xml" Id="R5606ba9817354a45" /><Relationship Type="http://schemas.openxmlformats.org/officeDocument/2006/relationships/slide" Target="/ppt/slides/slide3.xml" Id="R9ee1649dbe064d5f" /><Relationship Type="http://schemas.openxmlformats.org/officeDocument/2006/relationships/slide" Target="/ppt/slides/slide4.xml" Id="R7ece310667d3498a" /><Relationship Type="http://schemas.openxmlformats.org/officeDocument/2006/relationships/slide" Target="/ppt/slides/slide5.xml" Id="Rf0815244a76941b1" /><Relationship Type="http://schemas.openxmlformats.org/officeDocument/2006/relationships/slide" Target="/ppt/slides/slide6.xml" Id="R6bb0718f0fad45cd" /><Relationship Type="http://schemas.openxmlformats.org/officeDocument/2006/relationships/slide" Target="/ppt/slides/slide7.xml" Id="Rcb74fea054334701" /><Relationship Type="http://schemas.openxmlformats.org/officeDocument/2006/relationships/slide" Target="/ppt/slides/slide8.xml" Id="R3d8ffb08cf1640cd" /><Relationship Type="http://schemas.openxmlformats.org/officeDocument/2006/relationships/slide" Target="/ppt/slides/slide9.xml" Id="R157c8c43524747ed" /><Relationship Type="http://schemas.openxmlformats.org/officeDocument/2006/relationships/slide" Target="/ppt/slides/slide10.xml" Id="Race44cfa20cf4ea9" /><Relationship Type="http://schemas.openxmlformats.org/officeDocument/2006/relationships/slide" Target="/ppt/slides/slide11.xml" Id="R82e069b1ee4842b6" /><Relationship Type="http://schemas.openxmlformats.org/officeDocument/2006/relationships/slide" Target="/ppt/slides/slide12.xml" Id="Rc930435d278941f2" /><Relationship Type="http://schemas.openxmlformats.org/officeDocument/2006/relationships/slide" Target="/ppt/slides/slide13.xml" Id="R8e456bd8c070431d" /><Relationship Type="http://schemas.openxmlformats.org/officeDocument/2006/relationships/slide" Target="/ppt/slides/slide14.xml" Id="R9748175c448d4b80" /><Relationship Type="http://schemas.openxmlformats.org/officeDocument/2006/relationships/slide" Target="/ppt/slides/slide15.xml" Id="Rb7d6b495bc594e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a0f4613ef94e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f3cd9ac5f149b0" /><Relationship Type="http://schemas.openxmlformats.org/officeDocument/2006/relationships/notesMaster" Target="/ppt/notesMasters/notesMaster1.xml" Id="R65ce06eb26ae42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5632700c794217" /><Relationship Type="http://schemas.openxmlformats.org/officeDocument/2006/relationships/notesMaster" Target="/ppt/notesMasters/notesMaster1.xml" Id="R088cd418476143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9b4b8684544c75" /><Relationship Type="http://schemas.openxmlformats.org/officeDocument/2006/relationships/notesMaster" Target="/ppt/notesMasters/notesMaster1.xml" Id="R400b8ebdf8924c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dec9c916704377" /><Relationship Type="http://schemas.openxmlformats.org/officeDocument/2006/relationships/notesMaster" Target="/ppt/notesMasters/notesMaster1.xml" Id="R807902f004f146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8e852ad6734c18" /><Relationship Type="http://schemas.openxmlformats.org/officeDocument/2006/relationships/notesMaster" Target="/ppt/notesMasters/notesMaster1.xml" Id="Rdfed6f77892f4e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387a36ad0c42e7" /><Relationship Type="http://schemas.openxmlformats.org/officeDocument/2006/relationships/notesMaster" Target="/ppt/notesMasters/notesMaster1.xml" Id="Rdfa10346ced443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05bed5e7c347ed" /><Relationship Type="http://schemas.openxmlformats.org/officeDocument/2006/relationships/notesMaster" Target="/ppt/notesMasters/notesMaster1.xml" Id="R3d9a197da02c41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074273da79406b" /><Relationship Type="http://schemas.openxmlformats.org/officeDocument/2006/relationships/notesMaster" Target="/ppt/notesMasters/notesMaster1.xml" Id="R2bc09aa6052e4e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5450785c3e4261" /><Relationship Type="http://schemas.openxmlformats.org/officeDocument/2006/relationships/notesMaster" Target="/ppt/notesMasters/notesMaster1.xml" Id="R3482453398584f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c8e9ca8e224cd7" /><Relationship Type="http://schemas.openxmlformats.org/officeDocument/2006/relationships/notesMaster" Target="/ppt/notesMasters/notesMaster1.xml" Id="R1454922c69384b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a12c8406724878" /><Relationship Type="http://schemas.openxmlformats.org/officeDocument/2006/relationships/notesMaster" Target="/ppt/notesMasters/notesMaster1.xml" Id="R7310290efc4347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18fda712784a63" /><Relationship Type="http://schemas.openxmlformats.org/officeDocument/2006/relationships/notesMaster" Target="/ppt/notesMasters/notesMaster1.xml" Id="Rf3272fe0c12a46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b287299dbe4213" /><Relationship Type="http://schemas.openxmlformats.org/officeDocument/2006/relationships/notesMaster" Target="/ppt/notesMasters/notesMaster1.xml" Id="R025d6442e26c48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cec6a37d2348d8" /><Relationship Type="http://schemas.openxmlformats.org/officeDocument/2006/relationships/notesMaster" Target="/ppt/notesMasters/notesMaster1.xml" Id="Rdd5068d3f75c4c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06c20ffb144c07" /><Relationship Type="http://schemas.openxmlformats.org/officeDocument/2006/relationships/notesMaster" Target="/ppt/notesMasters/notesMaster1.xml" Id="R363c3ac4cf154f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현재 형상으로 Backend와 Frontend를 재기동하고 같은 질문을 두 데이터 범위로 실행했습니다. 두 실행 모두 완료했습니다. 기대 수치는 재현했으나 확장 분석의 자동 추천은 가이드와 부분적으로 달랐습니다.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59명 기각은 확장 분석의 독립 검증 성과입니다. 97/340=28.5294%, 16/97=16.4948%는 원시 CSV 연결과 현재 측정 함수로 별도 확인한 결과입니다. 독립 측정 결과는 모델 입력에 전달하지 않았고 시그널 등록도 실행하지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두 요청은 같은 질문이며 기대 수치나 추가 탐색 지시를 넣지 않았습니다. 기존 등록 시그널 3개와 그 지식은 유지했습니다. find_signals는 선택 Source와 무관하게 기존 정의를 반환하며 앱 행동과 CTA 원인 표현을 포함합니다. 따라서 기존 시그널 지식을 가진 현재 서비스 상태의 재현 결과입니다. 직접 데이터 조회 Source와 기간 제한, 정답 라벨 마스킹을 별도 검증했습니다. 검색 피드백, 빌링, 로밍은 제외했습니다. 원문 참조 파일: limited-request.json, expanded-request.json.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추천 API 후보는 3개입니다. 반복 검색 실패를 가리키는 후보 2개는 실제 SQL 고객 집합이 모두 같은 120명입니다. 별도 후보인 반복 검색 실패 후 VOC 미유입은 59/120=49.2%입니다. 모델은 잠재 미해결 또는 이탈 위험으로 설명했지만 실제 해결 상태는 미확인입니다. 상담 전환율은 61/120=50.8%이며 확장 자동 추천의 61/180=33.9%와 분모가 다릅니다. 원문 참조: limited-proposals.json, limited-report.md.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확장 보고서의 미확정 고객 120명도 확정 고객 264명과 겹치므로 더하지 않습니다. 모델이 생성한 원래 후보 이름과 설명은 expanded-proposals.json에 보존되어 있습니다. 독립 검증의 97명과 16명은 이번 자동 추천에 포함되지 않았습니다. 원문 참조: expanded-report.md, expanded-proposals.json.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제한 데이터의 59명은 반복 검색 실패 후 VOC가 없어 잠재 미해결로 설명됐습니다. 확장 데이터에서 모두 메뉴 도달 기록을 확인해 이탈 후보를 기각했습니다. 120명 메뉴 미도달 주장은 정상 비교군 설명이 실제 행동과 다르다는 이유로 미확정 처리했습니다.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분모: 관측 기간에 부가서비스 활성 가입 기록 action=A, outcome=Y가 있고 앱 menu_view가 있는 고객 340명. 분자: 이들 중 해당 기간 부가서비스 조회/해지 메뉴 방문이 없는 고객 97명. 97/340=28.5294%. 서비스 전체 가입자 또는 조회/해지 의도가 확인된 고객 전체로 일반화하면 안 됩니다. 원시 CSV 연결과 InvestigationData.load → measure_definition 경로로 별도 확인했습니다. 이 결과는 모델 입력에 전달하지 않았고 시그널도 등록하지 않았습니다. 참조: independent-counts.json, recommended-signal.json.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모든 VOC 상담 고객은 검색 고객과 겹칩니다. 검색과 상담으로 관측하는 메뉴 미도달 고객은 21+60=81명이고 16명이 빠집니다. 16/97=16.4948%입니다. 16명에게는 검색어, 상담, 목표 메뉴 방문이 모두 없어 조회나 해지가 실제 목적이었는지 확인되지 않습니다. 활성 가입과 일반 메뉴 탐색 기록만으로 전원을 조회/해지 실패 고객으로 확정할 수 없습니다. 참조: channel-navigation-comparison.json.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원시 발생 시각으로 failed 고객 중 메뉴 도달 99명 전원이 첫 검색보다 먼저 메뉴에 도달했음을 확인했습니다. 따라서 검색이 도달을 유발했다고 설명할 근거가 없습니다. 참조: navigation-search-timing.json.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제한 기본 지표는 검색 단계에서 동일 의도를 다시 시도하는 고객 규모입니다. 보조 지표의 평균 상담 시간은 330초입니다. 확장 우선 지표의 정확한 분모는 기간 내 action=A, outcome=Y의 활성 가입 기록과 menu_view가 있는 고객입니다. 분자는 목표 부가서비스 조회/해지 메뉴 방문이 없는 고객입니다. 16명은 지원 채널 지표에 나타나지 않는 고객군이며 실제 목적은 추가 확인이 필요합니다. 권고 시그널은 독립 정의와 측정 결과이며 등록하지 않았습니다. 참조: recommended-signal.json, measure_recommended.py.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정상군으로 둔 다른 144명도 같은 반복 메뉴 경로를 거쳤습니다. 243명 전원의 경유 행동을 확정적 헤맴으로 표시할 근거가 부족합니다. 확장 메뉴 후보 SQL은 기간 내 메뉴 존재 여부 조합이며 세션 내 순서와 반복 횟수를 직접 조건으로 고정하지 않습니다. 두 보고서 제목과 일부 후보 이름은 CTA 부재를 원인으로 표현하지만 화면 증거와 실험 근거가 없고 같은 템플릿에서 검색 상태도 다릅니다. 장기 모니터링 전 후보 제목과 SQL 조건을 맞춰야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원문에서 권고한 사용자 설명을 발표용으로 재구성했습니다. 이는 독립 검증 결과를 바탕으로 한 적절한 설명 수준이며 이번 모델이 자동 생성한 최종 추천으로 소개하면 안 됩니다. 이번 확장 실행은 잘못된 이탈 추정을 기각하는 데 성공했지만 핵심 미도달 지표 발견과 최종 표현 검증에는 보완이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59/120=49.1667%는 반복 검색 실패 후 VOC 미유입률입니다. 120/180=66.6667%, 243/340=71.4706%, 61/180=33.8889%, 61/120=50.8333%, 97/340=28.5294%, 16/97=16.4948%. 표시 정밀도는 원문에 맞췄습니다.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초기 동시 실행 두 건의 기록을 보존하고 중단했습니다. 같은 모델의 짧은 확인 호출은 2~3초에 성공했고 서버 재시작 후 순차 실행한 두 건은 완료했습니다. 시간은 성공한 재시도 기준이므로 보편적인 지연시간 기준으로 해석하지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원문에서 제시한 근거와 재현 파일 목록입니다. 이 프레젠테이션은 제공된 보고서 내용을 요약합니다.</a:t>
            </a:r>
          </a:p>
          <a:p xmlns:a="http://schemas.openxmlformats.org/drawingml/2006/main">
            <a:r>
              <a:t>제한: limited-request.json, limited-report.md, limited-proposals.json, limited-validation.json.</a:t>
            </a:r>
          </a:p>
          <a:p xmlns:a="http://schemas.openxmlformats.org/drawingml/2006/main">
            <a:r>
              <a:t>확장: expanded-request.json, expanded-report.md, expanded-proposals.json, expanded-validation.json.</a:t>
            </a:r>
          </a:p>
          <a:p xmlns:a="http://schemas.openxmlformats.org/drawingml/2006/main">
            <a:r>
              <a:t>독립 집계: independent-counts.json, channel-navigation-comparison.json, navigation-search-timing.json.</a:t>
            </a:r>
          </a:p>
          <a:p xmlns:a="http://schemas.openxmlformats.org/drawingml/2006/main">
            <a:r>
              <a:t>권고 정의와 측정: recommended-signal.json.</a:t>
            </a:r>
          </a:p>
          <a:p xmlns:a="http://schemas.openxmlformats.org/drawingml/2006/main">
            <a:r>
              <a:t>재현 스크립트: run_comparison.py, validate_run.py, measure_recommended.py.</a:t>
            </a:r>
          </a:p>
          <a:p xmlns:a="http://schemas.openxmlformats.org/drawingml/2006/main">
            <a:r>
              <a:t>기존 등록 시그널 3개를 유지했으며 find_signals는 Source 선택과 무관하게 정의를 반환합니다. 기존 정의에는 앱 행동과 CTA 원인 표현이 있습니다. 직접 조회의 Source와 기간 제한 및 평가용 정답 라벨 마스킹은 별도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5ebe133a914d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e787a9181642ff" /><Relationship Type="http://schemas.openxmlformats.org/officeDocument/2006/relationships/slideLayout" Target="/ppt/slideLayouts/slideLayout1.xml" Id="R2afe7a64fdc348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fe7a64fdc348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25595ef3de14656" /><Relationship Type="http://schemas.openxmlformats.org/officeDocument/2006/relationships/notesSlide" Target="/ppt/notesSlides/notesSlide1.xml" Id="R73f1e9ec695d48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c5f321b18b4e9a" /><Relationship Type="http://schemas.openxmlformats.org/officeDocument/2006/relationships/notesSlide" Target="/ppt/notesSlides/notesSlide2.xml" Id="R8fb2f7cc24344c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717bf3b0a2f4bd8" /><Relationship Type="http://schemas.openxmlformats.org/officeDocument/2006/relationships/notesSlide" Target="/ppt/notesSlides/notesSlide3.xml" Id="R6c4ff3aecfed4f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32e78567c3b450f" /><Relationship Type="http://schemas.openxmlformats.org/officeDocument/2006/relationships/chart" Target="/ppt/slides/charts/chart1.xml" Id="R51024764cb654c4a" /><Relationship Type="http://schemas.openxmlformats.org/officeDocument/2006/relationships/notesSlide" Target="/ppt/notesSlides/notesSlide4.xml" Id="R104d4de9b4c046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bb2683faeb432b" /><Relationship Type="http://schemas.openxmlformats.org/officeDocument/2006/relationships/notesSlide" Target="/ppt/notesSlides/notesSlide5.xml" Id="R34a454ef445145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d66f2dbbee4f7b" /><Relationship Type="http://schemas.openxmlformats.org/officeDocument/2006/relationships/notesSlide" Target="/ppt/notesSlides/notesSlide6.xml" Id="Reb294000492546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f2222f3ecb4568" /><Relationship Type="http://schemas.openxmlformats.org/officeDocument/2006/relationships/chart" Target="/ppt/slides/charts/chart2.xml" Id="Rdd0b0d1269904b64" /><Relationship Type="http://schemas.openxmlformats.org/officeDocument/2006/relationships/notesSlide" Target="/ppt/notesSlides/notesSlide7.xml" Id="Rd43dcb99c57a4b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6d39a0c510409a" /><Relationship Type="http://schemas.openxmlformats.org/officeDocument/2006/relationships/notesSlide" Target="/ppt/notesSlides/notesSlide8.xml" Id="R4f762231a0834e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c47b56c30f4e66" /><Relationship Type="http://schemas.openxmlformats.org/officeDocument/2006/relationships/chart" Target="/ppt/slides/charts/chart3.xml" Id="Rc7611371e1d54bfc" /><Relationship Type="http://schemas.openxmlformats.org/officeDocument/2006/relationships/notesSlide" Target="/ppt/notesSlides/notesSlide9.xml" Id="R07b6f89e141e47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5cb79391aa4f59" /><Relationship Type="http://schemas.openxmlformats.org/officeDocument/2006/relationships/notesSlide" Target="/ppt/notesSlides/notesSlide10.xml" Id="R8e7e0f4e51eb4a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93145c0f0445d7" /><Relationship Type="http://schemas.openxmlformats.org/officeDocument/2006/relationships/notesSlide" Target="/ppt/notesSlides/notesSlide11.xml" Id="R2e9b8b79529d461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f516908c814a63" /><Relationship Type="http://schemas.openxmlformats.org/officeDocument/2006/relationships/notesSlide" Target="/ppt/notesSlides/notesSlide12.xml" Id="R3def9d0457bf41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cb786f2a70746d6" /><Relationship Type="http://schemas.openxmlformats.org/officeDocument/2006/relationships/notesSlide" Target="/ppt/notesSlides/notesSlide13.xml" Id="R664d1783f4f645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9cbc0b0556a48df" /><Relationship Type="http://schemas.openxmlformats.org/officeDocument/2006/relationships/notesSlide" Target="/ppt/notesSlides/notesSlide14.xml" Id="R6ec168449c4147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5d82ad77c04dab" /><Relationship Type="http://schemas.openxmlformats.org/officeDocument/2006/relationships/notesSlide" Target="/ppt/notesSlides/notesSlide15.xml" Id="R28e599c4f17940e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고객 수</c:v>
          </c:tx>
          <c:spPr>
            <a:solidFill xmlns:a="http://schemas.openxmlformats.org/drawingml/2006/main">
              <a:srgbClr val="336EAC"/>
            </a:solidFill>
          </c:spPr>
          <c:dPt>
            <c:idx val="0"/>
            <c:invertIfNegative val="0"/>
            <c:spPr>
              <a:solidFill xmlns:a="http://schemas.openxmlformats.org/drawingml/2006/main">
                <a:srgbClr val="087F8C"/>
              </a:solidFill>
            </c:spPr>
          </c:dPt>
          <c:dPt>
            <c:idx val="1"/>
            <c:invertIfNegative val="0"/>
            <c:spPr>
              <a:solidFill xmlns:a="http://schemas.openxmlformats.org/drawingml/2006/main">
                <a:srgbClr val="336EAC"/>
              </a:solidFill>
            </c:spPr>
          </c:dPt>
          <c:dPt>
            <c:idx val="2"/>
            <c:invertIfNegative val="0"/>
            <c:spPr>
              <a:solidFill xmlns:a="http://schemas.openxmlformats.org/drawingml/2006/main">
                <a:srgbClr val="B5CBE2"/>
              </a:solidFill>
            </c:spPr>
          </c:dPt>
          <c:cat>
            <c:strRef>
              <c:f>'Chart Data'!$A$2:$A$4</c:f>
              <c:strCache>
                <c:ptCount val="3"/>
                <c:pt idx="0">
                  <c:v>실패 후 상담 유입</c:v>
                </c:pt>
                <c:pt idx="1">
                  <c:v>반복 검색 실패</c:v>
                </c:pt>
                <c:pt idx="2">
                  <c:v>검색 고객</c:v>
                </c:pt>
              </c:strCache>
            </c:strRef>
          </c:cat>
          <c:val>
            <c:numRef>
              <c:f>'Chart Data'!$B$2:$B$4</c:f>
              <c:numCache>
                <c:formatCode>0</c:formatCode>
                <c:ptCount val="3"/>
                <c:pt idx="0">
                  <c:v>61</c:v>
                </c:pt>
                <c:pt idx="1">
                  <c:v>120</c:v>
                </c:pt>
                <c:pt idx="2">
                  <c:v>180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Apple SD Gothic Neo"/>
                <a:ea typeface="Apple SD Gothic Neo"/>
                <a:cs typeface="Apple SD Gothic Neo"/>
              </a:defRPr>
            </a:pPr>
          </a:p>
        </c:txPr>
        <c:crossAx val="48672768"/>
      </c:catAx>
      <c:valAx>
        <c:axId val="48672768"/>
        <c:scaling>
          <c:orientation val="minMax"/>
          <c:max val="200"/>
          <c:min val="0"/>
        </c:scaling>
        <c:delete val="0"/>
        <c:axPos val="b"/>
        <c:majorGridlines>
          <c:spPr>
            <a:ln xmlns:a="http://schemas.openxmlformats.org/drawingml/2006/main" w="5715">
              <a:solidFill>
                <a:srgbClr val="D9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77D"/>
                </a:solidFill>
                <a:latin typeface="Apple SD Gothic Neo"/>
                <a:ea typeface="Apple SD Gothic Neo"/>
                <a:cs typeface="Apple SD Gothic Neo"/>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doughnutChart>
        <c:ser>
          <c:idx val="0"/>
          <c:order val="0"/>
          <c:tx>
            <c:v>고객 수</c:v>
          </c:tx>
          <c:spPr>
            <a:ln xmlns:a="http://schemas.openxmlformats.org/drawingml/2006/main" w="19050">
              <a:solidFill>
                <a:srgbClr val="102A43"/>
              </a:solidFill>
            </a:ln>
          </c:spPr>
          <c:dPt>
            <c:idx val="0"/>
            <c:spPr>
              <a:solidFill xmlns:a="http://schemas.openxmlformats.org/drawingml/2006/main">
                <a:srgbClr val="34516B"/>
              </a:solidFill>
            </c:spPr>
          </c:dPt>
          <c:dPt>
            <c:idx val="1"/>
            <c:spPr>
              <a:solidFill xmlns:a="http://schemas.openxmlformats.org/drawingml/2006/main">
                <a:srgbClr val="83E1D0"/>
              </a:solidFill>
            </c:spPr>
          </c:dPt>
          <c:cat>
            <c:strRef>
              <c:f>'Chart Data'!$A$2:$A$3</c:f>
              <c:strCache>
                <c:ptCount val="2"/>
                <c:pt idx="0">
                  <c:v>메뉴 도달</c:v>
                </c:pt>
                <c:pt idx="1">
                  <c:v>도달 미관측</c:v>
                </c:pt>
              </c:strCache>
            </c:strRef>
          </c:cat>
          <c:val>
            <c:numRef>
              <c:f>'Chart Data'!$B$2:$B$3</c:f>
              <c:numCache>
                <c:formatCode>General</c:formatCode>
                <c:ptCount val="2"/>
                <c:pt idx="0">
                  <c:v>243</c:v>
                </c:pt>
                <c:pt idx="1">
                  <c:v>97</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FFFFFF"/>
                  </a:solidFill>
                  <a:latin typeface="Apple SD Gothic Neo"/>
                  <a:ea typeface="Apple SD Gothic Neo"/>
                  <a:cs typeface="Apple SD Gothic Neo"/>
                </a:defRPr>
              </a:pPr>
            </a:p>
          </c:txPr>
          <c:showLegendKey val="0"/>
          <c:showVal val="1"/>
          <c:showCatName val="0"/>
          <c:showSerName val="0"/>
          <c:showPercent val="0"/>
          <c:showBubbleSize val="0"/>
          <c:showLeaderLines val="0"/>
        </c:dLbls>
        <c:firstSliceAng val="270"/>
        <c:holeSize val="73"/>
      </c:doughnutChart>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FFFFFF"/>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메뉴 도달</c:v>
          </c:tx>
          <c:spPr>
            <a:solidFill xmlns:a="http://schemas.openxmlformats.org/drawingml/2006/main">
              <a:srgbClr val="087F8C"/>
            </a:solidFill>
          </c:spPr>
          <c:dLbls>
            <c:dLbl>
              <c:idx val="0"/>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ctr"/>
              <c:showLegendKey val="0"/>
              <c:showVal val="1"/>
              <c:showCatName val="0"/>
              <c:showSerName val="0"/>
              <c:showPercent val="0"/>
              <c:showBubbleSize val="0"/>
            </c:dLbl>
            <c:dLbl>
              <c:idx val="1"/>
              <c:showLegendKey val="0"/>
              <c:showVal val="0"/>
              <c:showCatName val="0"/>
              <c:showSerName val="0"/>
              <c:showPercent val="0"/>
              <c:showBubbleSize val="0"/>
            </c:dLbl>
          </c:dLbls>
          <c:cat>
            <c:strRef>
              <c:f>'Chart Data'!$A$2:$A$3</c:f>
              <c:strCache>
                <c:ptCount val="2"/>
                <c:pt idx="0">
                  <c:v>반복 검색 failed</c:v>
                </c:pt>
                <c:pt idx="1">
                  <c:v>검색 completed</c:v>
                </c:pt>
              </c:strCache>
            </c:strRef>
          </c:cat>
          <c:val>
            <c:numRef>
              <c:f>'Chart Data'!$B$2:$B$3</c:f>
              <c:numCache>
                <c:formatCode>0</c:formatCode>
                <c:ptCount val="2"/>
                <c:pt idx="0">
                  <c:v>99</c:v>
                </c:pt>
                <c:pt idx="1">
                  <c:v>0</c:v>
                </c:pt>
              </c:numCache>
            </c:numRef>
          </c:val>
        </c:ser>
        <c:ser>
          <c:idx val="1"/>
          <c:order val="1"/>
          <c:tx>
            <c:v>도달 미관측</c:v>
          </c:tx>
          <c:spPr>
            <a:solidFill xmlns:a="http://schemas.openxmlformats.org/drawingml/2006/main">
              <a:srgbClr val="C8D4DF"/>
            </a:solidFill>
          </c:spPr>
          <c:cat>
            <c:strRef>
              <c:f>'Chart Data'!$C$2:$C$3</c:f>
              <c:strCache>
                <c:ptCount val="2"/>
                <c:pt idx="0">
                  <c:v>반복 검색 failed</c:v>
                </c:pt>
                <c:pt idx="1">
                  <c:v>검색 completed</c:v>
                </c:pt>
              </c:strCache>
            </c:strRef>
          </c:cat>
          <c:val>
            <c:numRef>
              <c:f>'Chart Data'!$D$2:$D$3</c:f>
              <c:numCache>
                <c:formatCode>0</c:formatCode>
                <c:ptCount val="2"/>
                <c:pt idx="0">
                  <c:v>21</c:v>
                </c:pt>
                <c:pt idx="1">
                  <c:v>60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Apple SD Gothic Neo"/>
                <a:ea typeface="Apple SD Gothic Neo"/>
                <a:cs typeface="Apple SD Gothic Neo"/>
              </a:defRPr>
            </a:pPr>
          </a:p>
        </c:txPr>
        <c:crossAx val="48672768"/>
      </c:catAx>
      <c:valAx>
        <c:axId val="48672768"/>
        <c:scaling>
          <c:orientation val="minMax"/>
          <c:max val="120"/>
          <c:min val="0"/>
        </c:scaling>
        <c:delete val="0"/>
        <c:axPos val="b"/>
        <c:majorGridlines>
          <c:spPr>
            <a:ln xmlns:a="http://schemas.openxmlformats.org/drawingml/2006/main" w="5715">
              <a:solidFill>
                <a:srgbClr val="D9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77D"/>
                </a:solidFill>
                <a:latin typeface="Apple SD Gothic Neo"/>
                <a:ea typeface="Apple SD Gothic Neo"/>
                <a:cs typeface="Apple SD Gothic Neo"/>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52677D"/>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01">
            <a:extLst xmlns:a="http://schemas.openxmlformats.org/drawingml/2006/main">
              <a:ext uri="{FF2B5EF4-FFF2-40B4-BE49-F238E27FC236}">
                <a16:creationId xmlns:a16="http://schemas.microsoft.com/office/drawing/2014/main" id="{20E04F5A-8E2B-4390-8884-E26066DF92FD}"/>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01</a:t>
            </a:r>
          </a:p>
        </p:txBody>
      </p:sp>
      <p:sp>
        <p:nvSpPr>
          <p:cNvPr id="2" name="부가서비스 탐색">
            <a:extLst xmlns:a="http://schemas.openxmlformats.org/drawingml/2006/main">
              <a:ext uri="{FF2B5EF4-FFF2-40B4-BE49-F238E27FC236}">
                <a16:creationId xmlns:a16="http://schemas.microsoft.com/office/drawing/2014/main" id="{AED2848B-16CF-4862-B7CA-794AE85DFAC9}"/>
              </a:ext>
            </a:extLst>
          </p:cNvPr>
          <p:cNvSpPr>
            <a:spLocks xmlns:a="http://schemas.openxmlformats.org/drawingml/2006/main" noGrp="1"/>
          </p:cNvSpPr>
          <p:nvPr/>
        </p:nvSpPr>
        <p:spPr>
          <a:xfrm xmlns:a="http://schemas.openxmlformats.org/drawingml/2006/main">
            <a:off x="609600" y="13906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FFFFF"/>
                </a:solidFill>
                <a:latin typeface="Apple SD Gothic Neo"/>
                <a:ea typeface="Apple SD Gothic Neo"/>
                <a:cs typeface="Apple SD Gothic Neo"/>
              </a:defRPr>
            </a:pPr>
            <a:r>
              <a:rPr sz="5400" b="1">
                <a:solidFill>
                  <a:srgbClr val="FFFFFF"/>
                </a:solidFill>
                <a:latin typeface="Apple SD Gothic Neo"/>
                <a:ea typeface="Apple SD Gothic Neo"/>
                <a:cs typeface="Apple SD Gothic Neo"/>
              </a:rPr>
              <a:t>부가서비스 탐색</a:t>
            </a:r>
          </a:p>
        </p:txBody>
      </p:sp>
      <p:sp>
        <p:nvSpPr>
          <p:cNvPr id="3" name="데이터 범위별 실제 실행 비교">
            <a:extLst xmlns:a="http://schemas.openxmlformats.org/drawingml/2006/main">
              <a:ext uri="{FF2B5EF4-FFF2-40B4-BE49-F238E27FC236}">
                <a16:creationId xmlns:a16="http://schemas.microsoft.com/office/drawing/2014/main" id="{3106AF1E-DB9A-4CF0-B431-2470BA6884F3}"/>
              </a:ext>
            </a:extLst>
          </p:cNvPr>
          <p:cNvSpPr>
            <a:spLocks xmlns:a="http://schemas.openxmlformats.org/drawingml/2006/main" noGrp="1"/>
          </p:cNvSpPr>
          <p:nvPr/>
        </p:nvSpPr>
        <p:spPr>
          <a:xfrm xmlns:a="http://schemas.openxmlformats.org/drawingml/2006/main">
            <a:off x="609600" y="23526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FFFFFF"/>
                </a:solidFill>
                <a:latin typeface="Apple SD Gothic Neo"/>
                <a:ea typeface="Apple SD Gothic Neo"/>
                <a:cs typeface="Apple SD Gothic Neo"/>
              </a:defRPr>
            </a:pPr>
            <a:r>
              <a:rPr sz="3825" b="1">
                <a:solidFill>
                  <a:srgbClr val="FFFFFF"/>
                </a:solidFill>
                <a:latin typeface="Apple SD Gothic Neo"/>
                <a:ea typeface="Apple SD Gothic Neo"/>
                <a:cs typeface="Apple SD Gothic Neo"/>
              </a:rPr>
              <a:t>데이터 범위별 실제 실행 비교</a:t>
            </a:r>
          </a:p>
        </p:txBody>
      </p:sp>
      <p:sp>
        <p:nvSpPr>
          <p:cNvPr id="4" name="검색과 상담에 앱 행동, 가입 정보를 더했을 때의 변화">
            <a:extLst xmlns:a="http://schemas.openxmlformats.org/drawingml/2006/main">
              <a:ext uri="{FF2B5EF4-FFF2-40B4-BE49-F238E27FC236}">
                <a16:creationId xmlns:a16="http://schemas.microsoft.com/office/drawing/2014/main" id="{FFF1857C-99EC-4442-B2F8-8178FE00F7DE}"/>
              </a:ext>
            </a:extLst>
          </p:cNvPr>
          <p:cNvSpPr>
            <a:spLocks xmlns:a="http://schemas.openxmlformats.org/drawingml/2006/main" noGrp="1"/>
          </p:cNvSpPr>
          <p:nvPr/>
        </p:nvSpPr>
        <p:spPr>
          <a:xfrm xmlns:a="http://schemas.openxmlformats.org/drawingml/2006/main">
            <a:off x="638175" y="356235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C7D7E3"/>
                </a:solidFill>
                <a:latin typeface="Apple SD Gothic Neo"/>
                <a:ea typeface="Apple SD Gothic Neo"/>
                <a:cs typeface="Apple SD Gothic Neo"/>
              </a:defRPr>
            </a:pPr>
            <a:r>
              <a:rPr sz="2100" b="0">
                <a:solidFill>
                  <a:srgbClr val="C7D7E3"/>
                </a:solidFill>
                <a:latin typeface="Apple SD Gothic Neo"/>
                <a:ea typeface="Apple SD Gothic Neo"/>
                <a:cs typeface="Apple SD Gothic Neo"/>
              </a:rPr>
              <a:t>검색과 상담에 앱 행동, 가입 정보를 더했을 때의 변화</a:t>
            </a:r>
          </a:p>
        </p:txBody>
      </p:sp>
      <p:sp>
        <p:nvSpPr>
          <p:cNvPr id="5" name="2026.09.10">
            <a:extLst xmlns:a="http://schemas.openxmlformats.org/drawingml/2006/main">
              <a:ext uri="{FF2B5EF4-FFF2-40B4-BE49-F238E27FC236}">
                <a16:creationId xmlns:a16="http://schemas.microsoft.com/office/drawing/2014/main" id="{CA7FBF9B-DEBB-4672-A782-A3E5070D1CB9}"/>
              </a:ext>
            </a:extLst>
          </p:cNvPr>
          <p:cNvSpPr>
            <a:spLocks xmlns:a="http://schemas.openxmlformats.org/drawingml/2006/main" noGrp="1"/>
          </p:cNvSpPr>
          <p:nvPr/>
        </p:nvSpPr>
        <p:spPr>
          <a:xfrm xmlns:a="http://schemas.openxmlformats.org/drawingml/2006/main">
            <a:off x="638175" y="54387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83E1D0"/>
                </a:solidFill>
                <a:latin typeface="Apple SD Gothic Neo"/>
                <a:ea typeface="Apple SD Gothic Neo"/>
                <a:cs typeface="Apple SD Gothic Neo"/>
              </a:defRPr>
            </a:pPr>
            <a:r>
              <a:rPr sz="1800" b="0">
                <a:solidFill>
                  <a:srgbClr val="83E1D0"/>
                </a:solidFill>
                <a:latin typeface="Apple SD Gothic Neo"/>
                <a:ea typeface="Apple SD Gothic Neo"/>
                <a:cs typeface="Apple SD Gothic Neo"/>
              </a:rPr>
              <a:t>2026.09.10</a:t>
            </a:r>
          </a:p>
        </p:txBody>
      </p:sp>
      <p:sp>
        <p:nvSpPr>
          <p:cNvPr id="6" name="실행 형상 5473bda">
            <a:extLst xmlns:a="http://schemas.openxmlformats.org/drawingml/2006/main">
              <a:ext uri="{FF2B5EF4-FFF2-40B4-BE49-F238E27FC236}">
                <a16:creationId xmlns:a16="http://schemas.microsoft.com/office/drawing/2014/main" id="{C050F0B8-3BFB-40E5-A480-3597EC725051}"/>
              </a:ext>
            </a:extLst>
          </p:cNvPr>
          <p:cNvSpPr>
            <a:spLocks xmlns:a="http://schemas.openxmlformats.org/drawingml/2006/main" noGrp="1"/>
          </p:cNvSpPr>
          <p:nvPr/>
        </p:nvSpPr>
        <p:spPr>
          <a:xfrm xmlns:a="http://schemas.openxmlformats.org/drawingml/2006/main">
            <a:off x="638175" y="58388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9BDCE"/>
                </a:solidFill>
                <a:latin typeface="Apple SD Gothic Neo"/>
                <a:ea typeface="Apple SD Gothic Neo"/>
                <a:cs typeface="Apple SD Gothic Neo"/>
              </a:defRPr>
            </a:pPr>
            <a:r>
              <a:rPr sz="1500" b="0">
                <a:solidFill>
                  <a:srgbClr val="A9BDCE"/>
                </a:solidFill>
                <a:latin typeface="Apple SD Gothic Neo"/>
                <a:ea typeface="Apple SD Gothic Neo"/>
                <a:cs typeface="Apple SD Gothic Neo"/>
              </a:rPr>
              <a:t>실행 형상 5473bda</a:t>
            </a:r>
          </a:p>
        </p:txBody>
      </p:sp>
    </p:spTree>
    <p:extLst>
      <p:ext uri="{BB962C8B-B14F-4D97-AF65-F5344CB8AC3E}">
        <p14:creationId xmlns:p14="http://schemas.microsoft.com/office/powerpoint/2010/main" val="834109757"/>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확장 분석은 오해를 줄였지만 핵심 지표를 놓쳤습니다">
            <a:extLst xmlns:a="http://schemas.openxmlformats.org/drawingml/2006/main">
              <a:ext uri="{FF2B5EF4-FFF2-40B4-BE49-F238E27FC236}">
                <a16:creationId xmlns:a16="http://schemas.microsoft.com/office/drawing/2014/main" id="{1CDFA974-7A78-4909-A75B-6FFDB17B1CC5}"/>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분석은 오해를 줄였지만 핵심 지표를 놓쳤습니다</a:t>
            </a:r>
          </a:p>
        </p:txBody>
      </p:sp>
      <p:sp>
        <p:nvSpPr>
          <p:cNvPr id="2" name="두 실행은 완료했습니다. 자동 추천 결과와 독립 측정 결과를 구분해 읽어야 ">
            <a:extLst xmlns:a="http://schemas.openxmlformats.org/drawingml/2006/main">
              <a:ext uri="{FF2B5EF4-FFF2-40B4-BE49-F238E27FC236}">
                <a16:creationId xmlns:a16="http://schemas.microsoft.com/office/drawing/2014/main" id="{0C2A02A8-1528-4C13-87C7-CBEBCF76A78A}"/>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두 실행은 완료했습니다. 자동 추천 결과와 독립 측정 결과를 구분해 읽어야 합니다.</a:t>
            </a:r>
          </a:p>
        </p:txBody>
      </p:sp>
      <p:sp>
        <p:nvSpPr>
          <p:cNvPr id="3" name="02">
            <a:extLst xmlns:a="http://schemas.openxmlformats.org/drawingml/2006/main">
              <a:ext uri="{FF2B5EF4-FFF2-40B4-BE49-F238E27FC236}">
                <a16:creationId xmlns:a16="http://schemas.microsoft.com/office/drawing/2014/main" id="{EC205CBD-AD1C-4F58-ABCF-E5FD4A516048}"/>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02</a:t>
            </a:r>
          </a:p>
        </p:txBody>
      </p:sp>
      <p:sp>
        <p:nvSpPr>
          <p:cNvPr id="4" name="59명">
            <a:extLst xmlns:a="http://schemas.openxmlformats.org/drawingml/2006/main">
              <a:ext uri="{FF2B5EF4-FFF2-40B4-BE49-F238E27FC236}">
                <a16:creationId xmlns:a16="http://schemas.microsoft.com/office/drawing/2014/main" id="{6076BC2F-E73B-4DAF-A4F8-053C34602121}"/>
              </a:ext>
            </a:extLst>
          </p:cNvPr>
          <p:cNvSpPr>
            <a:spLocks xmlns:a="http://schemas.openxmlformats.org/drawingml/2006/main" noGrp="1"/>
          </p:cNvSpPr>
          <p:nvPr/>
        </p:nvSpPr>
        <p:spPr>
          <a:xfrm xmlns:a="http://schemas.openxmlformats.org/drawingml/2006/main">
            <a:off x="609600" y="223837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C"/>
                </a:solidFill>
                <a:latin typeface="Apple SD Gothic Neo"/>
                <a:ea typeface="Apple SD Gothic Neo"/>
                <a:cs typeface="Apple SD Gothic Neo"/>
              </a:defRPr>
            </a:pPr>
            <a:r>
              <a:rPr sz="5700" b="1">
                <a:solidFill>
                  <a:srgbClr val="087F8C"/>
                </a:solidFill>
                <a:latin typeface="Apple SD Gothic Neo"/>
                <a:ea typeface="Apple SD Gothic Neo"/>
                <a:cs typeface="Apple SD Gothic Neo"/>
              </a:rPr>
              <a:t>59명</a:t>
            </a:r>
          </a:p>
        </p:txBody>
      </p:sp>
      <p:sp>
        <p:nvSpPr>
          <p:cNvPr id="5" name="잘못된 이탈 추정 기각">
            <a:extLst xmlns:a="http://schemas.openxmlformats.org/drawingml/2006/main">
              <a:ext uri="{FF2B5EF4-FFF2-40B4-BE49-F238E27FC236}">
                <a16:creationId xmlns:a16="http://schemas.microsoft.com/office/drawing/2014/main" id="{773BFCDE-70B8-4E1E-8E48-DFFF3AA3B0E2}"/>
              </a:ext>
            </a:extLst>
          </p:cNvPr>
          <p:cNvSpPr>
            <a:spLocks xmlns:a="http://schemas.openxmlformats.org/drawingml/2006/main" noGrp="1"/>
          </p:cNvSpPr>
          <p:nvPr/>
        </p:nvSpPr>
        <p:spPr>
          <a:xfrm xmlns:a="http://schemas.openxmlformats.org/drawingml/2006/main">
            <a:off x="609600" y="33242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잘못된 이탈 추정 기각</a:t>
            </a:r>
          </a:p>
        </p:txBody>
      </p:sp>
      <p:sp>
        <p:nvSpPr>
          <p:cNvPr id="6" name="상담이 없던 59명 모두&#10;목표 메뉴 도달 기록 확인">
            <a:extLst xmlns:a="http://schemas.openxmlformats.org/drawingml/2006/main">
              <a:ext uri="{FF2B5EF4-FFF2-40B4-BE49-F238E27FC236}">
                <a16:creationId xmlns:a16="http://schemas.microsoft.com/office/drawing/2014/main" id="{EB1E8477-F15D-4610-8085-2EB256C95FAF}"/>
              </a:ext>
            </a:extLst>
          </p:cNvPr>
          <p:cNvSpPr>
            <a:spLocks xmlns:a="http://schemas.openxmlformats.org/drawingml/2006/main" noGrp="1"/>
          </p:cNvSpPr>
          <p:nvPr/>
        </p:nvSpPr>
        <p:spPr>
          <a:xfrm xmlns:a="http://schemas.openxmlformats.org/drawingml/2006/main">
            <a:off x="609600" y="3905250"/>
            <a:ext cx="3181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상담이 없던 59명 모두</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목표 메뉴 도달 기록 확인</a:t>
            </a:r>
          </a:p>
        </p:txBody>
      </p:sp>
      <p:sp>
        <p:nvSpPr>
          <p:cNvPr id="7" name="28.5%">
            <a:extLst xmlns:a="http://schemas.openxmlformats.org/drawingml/2006/main">
              <a:ext uri="{FF2B5EF4-FFF2-40B4-BE49-F238E27FC236}">
                <a16:creationId xmlns:a16="http://schemas.microsoft.com/office/drawing/2014/main" id="{9CAAF92E-D176-4E02-A9A7-DC8B20EDCB88}"/>
              </a:ext>
            </a:extLst>
          </p:cNvPr>
          <p:cNvSpPr>
            <a:spLocks xmlns:a="http://schemas.openxmlformats.org/drawingml/2006/main" noGrp="1"/>
          </p:cNvSpPr>
          <p:nvPr/>
        </p:nvSpPr>
        <p:spPr>
          <a:xfrm xmlns:a="http://schemas.openxmlformats.org/drawingml/2006/main">
            <a:off x="4362450" y="223837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02A43"/>
                </a:solidFill>
                <a:latin typeface="Apple SD Gothic Neo"/>
                <a:ea typeface="Apple SD Gothic Neo"/>
                <a:cs typeface="Apple SD Gothic Neo"/>
              </a:defRPr>
            </a:pPr>
            <a:r>
              <a:rPr sz="5700" b="1">
                <a:solidFill>
                  <a:srgbClr val="102A43"/>
                </a:solidFill>
                <a:latin typeface="Apple SD Gothic Neo"/>
                <a:ea typeface="Apple SD Gothic Neo"/>
                <a:cs typeface="Apple SD Gothic Neo"/>
              </a:rPr>
              <a:t>28.5%</a:t>
            </a:r>
          </a:p>
        </p:txBody>
      </p:sp>
      <p:sp>
        <p:nvSpPr>
          <p:cNvPr id="8" name="메뉴 도달 미관측률">
            <a:extLst xmlns:a="http://schemas.openxmlformats.org/drawingml/2006/main">
              <a:ext uri="{FF2B5EF4-FFF2-40B4-BE49-F238E27FC236}">
                <a16:creationId xmlns:a16="http://schemas.microsoft.com/office/drawing/2014/main" id="{A460AC66-B2BC-4675-A865-9F010760A0A6}"/>
              </a:ext>
            </a:extLst>
          </p:cNvPr>
          <p:cNvSpPr>
            <a:spLocks xmlns:a="http://schemas.openxmlformats.org/drawingml/2006/main" noGrp="1"/>
          </p:cNvSpPr>
          <p:nvPr/>
        </p:nvSpPr>
        <p:spPr>
          <a:xfrm xmlns:a="http://schemas.openxmlformats.org/drawingml/2006/main">
            <a:off x="4362450" y="33242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메뉴 도달 미관측률</a:t>
            </a:r>
          </a:p>
        </p:txBody>
      </p:sp>
      <p:sp>
        <p:nvSpPr>
          <p:cNvPr id="9" name="독립 측정으로 97/340명 확인&#10;모델의 최종 자동 추천에서 누락">
            <a:extLst xmlns:a="http://schemas.openxmlformats.org/drawingml/2006/main">
              <a:ext uri="{FF2B5EF4-FFF2-40B4-BE49-F238E27FC236}">
                <a16:creationId xmlns:a16="http://schemas.microsoft.com/office/drawing/2014/main" id="{3D5DC84C-9CEE-4D11-95ED-FFBF6882573C}"/>
              </a:ext>
            </a:extLst>
          </p:cNvPr>
          <p:cNvSpPr>
            <a:spLocks xmlns:a="http://schemas.openxmlformats.org/drawingml/2006/main" noGrp="1"/>
          </p:cNvSpPr>
          <p:nvPr/>
        </p:nvSpPr>
        <p:spPr>
          <a:xfrm xmlns:a="http://schemas.openxmlformats.org/drawingml/2006/main">
            <a:off x="4362450" y="3905250"/>
            <a:ext cx="3257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독립 측정으로 97/340명 확인</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모델의 최종 자동 추천에서 누락</a:t>
            </a:r>
          </a:p>
        </p:txBody>
      </p:sp>
      <p:sp>
        <p:nvSpPr>
          <p:cNvPr id="10" name="16명">
            <a:extLst xmlns:a="http://schemas.openxmlformats.org/drawingml/2006/main">
              <a:ext uri="{FF2B5EF4-FFF2-40B4-BE49-F238E27FC236}">
                <a16:creationId xmlns:a16="http://schemas.microsoft.com/office/drawing/2014/main" id="{313254C4-794F-497C-A626-E25E9550A368}"/>
              </a:ext>
            </a:extLst>
          </p:cNvPr>
          <p:cNvSpPr>
            <a:spLocks xmlns:a="http://schemas.openxmlformats.org/drawingml/2006/main" noGrp="1"/>
          </p:cNvSpPr>
          <p:nvPr/>
        </p:nvSpPr>
        <p:spPr>
          <a:xfrm xmlns:a="http://schemas.openxmlformats.org/drawingml/2006/main">
            <a:off x="8172450" y="2238375"/>
            <a:ext cx="3381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B5472A"/>
                </a:solidFill>
                <a:latin typeface="Apple SD Gothic Neo"/>
                <a:ea typeface="Apple SD Gothic Neo"/>
                <a:cs typeface="Apple SD Gothic Neo"/>
              </a:defRPr>
            </a:pPr>
            <a:r>
              <a:rPr sz="5700" b="1">
                <a:solidFill>
                  <a:srgbClr val="B5472A"/>
                </a:solidFill>
                <a:latin typeface="Apple SD Gothic Neo"/>
                <a:ea typeface="Apple SD Gothic Neo"/>
                <a:cs typeface="Apple SD Gothic Neo"/>
              </a:rPr>
              <a:t>16명</a:t>
            </a:r>
          </a:p>
        </p:txBody>
      </p:sp>
      <p:sp>
        <p:nvSpPr>
          <p:cNvPr id="11" name="검색과 상담에도 미관측">
            <a:extLst xmlns:a="http://schemas.openxmlformats.org/drawingml/2006/main">
              <a:ext uri="{FF2B5EF4-FFF2-40B4-BE49-F238E27FC236}">
                <a16:creationId xmlns:a16="http://schemas.microsoft.com/office/drawing/2014/main" id="{BCC56006-4EEB-4AF0-BBEB-AE0A0FADF7B0}"/>
              </a:ext>
            </a:extLst>
          </p:cNvPr>
          <p:cNvSpPr>
            <a:spLocks xmlns:a="http://schemas.openxmlformats.org/drawingml/2006/main" noGrp="1"/>
          </p:cNvSpPr>
          <p:nvPr/>
        </p:nvSpPr>
        <p:spPr>
          <a:xfrm xmlns:a="http://schemas.openxmlformats.org/drawingml/2006/main">
            <a:off x="8172450" y="33242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검색과 상담에도 미관측</a:t>
            </a:r>
          </a:p>
        </p:txBody>
      </p:sp>
      <p:sp>
        <p:nvSpPr>
          <p:cNvPr id="12" name="메뉴 도달 미관측 97명 중 16명&#10;실제 조회/해지 의도는 미확인">
            <a:extLst xmlns:a="http://schemas.openxmlformats.org/drawingml/2006/main">
              <a:ext uri="{FF2B5EF4-FFF2-40B4-BE49-F238E27FC236}">
                <a16:creationId xmlns:a16="http://schemas.microsoft.com/office/drawing/2014/main" id="{E2AE32FE-A037-4B00-82BB-FF6C4CA88538}"/>
              </a:ext>
            </a:extLst>
          </p:cNvPr>
          <p:cNvSpPr>
            <a:spLocks xmlns:a="http://schemas.openxmlformats.org/drawingml/2006/main" noGrp="1"/>
          </p:cNvSpPr>
          <p:nvPr/>
        </p:nvSpPr>
        <p:spPr>
          <a:xfrm xmlns:a="http://schemas.openxmlformats.org/drawingml/2006/main">
            <a:off x="8172450" y="3905250"/>
            <a:ext cx="3381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메뉴 도달 미관측 97명 중 16명</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실제 조회/해지 의도는 미확인</a:t>
            </a:r>
          </a:p>
        </p:txBody>
      </p:sp>
      <p:sp>
        <p:nvSpPr>
          <p:cNvPr id="13" name="기존 해커톤 합성 데이터에서 확인한 결과입니다. 실제 해지 완료나 업무 해결">
            <a:extLst xmlns:a="http://schemas.openxmlformats.org/drawingml/2006/main">
              <a:ext uri="{FF2B5EF4-FFF2-40B4-BE49-F238E27FC236}">
                <a16:creationId xmlns:a16="http://schemas.microsoft.com/office/drawing/2014/main" id="{AFF37030-3CC4-4843-A0BA-19823FBCD808}"/>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기존 해커톤 합성 데이터에서 확인한 결과입니다. 실제 해지 완료나 업무 해결 여부는 별도 확인이 필요합니다.</a:t>
            </a:r>
          </a:p>
        </p:txBody>
      </p:sp>
    </p:spTree>
    <p:extLst>
      <p:ext uri="{BB962C8B-B14F-4D97-AF65-F5344CB8AC3E}">
        <p14:creationId xmlns:p14="http://schemas.microsoft.com/office/powerpoint/2010/main" val="10478381"/>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비교 조건">
            <a:extLst xmlns:a="http://schemas.openxmlformats.org/drawingml/2006/main">
              <a:ext uri="{FF2B5EF4-FFF2-40B4-BE49-F238E27FC236}">
                <a16:creationId xmlns:a16="http://schemas.microsoft.com/office/drawing/2014/main" id="{1F086904-748E-49A3-B9EC-ECD44BD02810}"/>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비교 조건</a:t>
            </a:r>
          </a:p>
        </p:txBody>
      </p:sp>
      <p:sp>
        <p:nvSpPr>
          <p:cNvPr id="2" name="질문과 모델은 같고, 직접 조회할 수 있는 데이터 범위를 달리했습니다.">
            <a:extLst xmlns:a="http://schemas.openxmlformats.org/drawingml/2006/main">
              <a:ext uri="{FF2B5EF4-FFF2-40B4-BE49-F238E27FC236}">
                <a16:creationId xmlns:a16="http://schemas.microsoft.com/office/drawing/2014/main" id="{AABCB392-05F4-4797-AD40-FBA3939055C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질문과 모델은 같고, 직접 조회할 수 있는 데이터 범위를 달리했습니다.</a:t>
            </a:r>
          </a:p>
        </p:txBody>
      </p:sp>
      <p:sp>
        <p:nvSpPr>
          <p:cNvPr id="3" name="03">
            <a:extLst xmlns:a="http://schemas.openxmlformats.org/drawingml/2006/main">
              <a:ext uri="{FF2B5EF4-FFF2-40B4-BE49-F238E27FC236}">
                <a16:creationId xmlns:a16="http://schemas.microsoft.com/office/drawing/2014/main" id="{31001251-FFA2-4CDA-8BBA-24633A96B936}"/>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03</a:t>
            </a:r>
          </a:p>
        </p:txBody>
      </p:sp>
      <p:graphicFrame>
        <p:nvGraphicFramePr>
          <p:cNvPr id="9" name=""/>
          <p:cNvGraphicFramePr/>
          <p:nvPr/>
        </p:nvGraphicFramePr>
        <p:xfrm>
          <a:off xmlns:a="http://schemas.openxmlformats.org/drawingml/2006/main" x="609600" y="1952625"/>
          <a:ext xmlns:a="http://schemas.openxmlformats.org/drawingml/2006/main" cx="10972800" cy="3590925"/>
        </p:xfrm>
        <a:graphic xmlns:a="http://schemas.openxmlformats.org/drawingml/2006/main">
          <a:graphicData uri="http://schemas.openxmlformats.org/drawingml/2006/table">
            <a:tbl>
              <a:tblPr firstRow="0" bandRow="0"/>
              <a:tblGrid>
                <a:gridCol w="2133600"/>
                <a:gridCol w="4324350"/>
                <a:gridCol w="4514850"/>
              </a:tblGrid>
              <a:tr h="718185">
                <a:tc>
                  <a:txBody>
                    <a:bodyPr lIns="171450" tIns="95250" rIns="171450" bIns="95250">
                      <a:noAutofit/>
                    </a:bodyPr>
                    <a:lstStyle/>
                    <a:p>
                      <a:r>
                        <a:rPr sz="1650" b="1">
                          <a:solidFill>
                            <a:srgbClr val="FFFFFF"/>
                          </a:solidFill>
                          <a:latin typeface="Apple SD Gothic Neo"/>
                          <a:ea typeface="Apple SD Gothic Neo"/>
                          <a:cs typeface="Apple SD Gothic Neo"/>
                        </a:rPr>
                        <a:t>조건</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제한 분석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확장 분석</a:t>
                      </a:r>
                    </a:p>
                  </a:txBody>
                  <a:tcPr marL="91440" marR="91440" marT="45720" marB="45720" anchor="ctr">
                    <a:solidFill>
                      <a:srgbClr val="102A43"/>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조회 데이터</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검색 이력, VOC</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검색 이력, VOC</a:t>
                      </a:r>
                    </a:p>
                    <a:p>
                      <a:r>
                        <a:rPr sz="1725">
                          <a:solidFill>
                            <a:srgbClr val="102A43"/>
                          </a:solidFill>
                          <a:latin typeface="Apple SD Gothic Neo"/>
                          <a:ea typeface="Apple SD Gothic Neo"/>
                          <a:cs typeface="Apple SD Gothic Neo"/>
                        </a:rPr>
                        <a:t>앱 행동, 부가서비스 가입 정보</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관측 기간</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2026.09.04 00:00 이상</a:t>
                      </a:r>
                    </a:p>
                    <a:p>
                      <a:r>
                        <a:rPr sz="1725">
                          <a:solidFill>
                            <a:srgbClr val="102A43"/>
                          </a:solidFill>
                          <a:latin typeface="Apple SD Gothic Neo"/>
                          <a:ea typeface="Apple SD Gothic Neo"/>
                          <a:cs typeface="Apple SD Gothic Neo"/>
                        </a:rPr>
                        <a:t>2026.09.11 00:00 미만, KST</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동일</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모델</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Bedrock</a:t>
                      </a:r>
                    </a:p>
                    <a:p>
                      <a:r>
                        <a:rPr sz="1725">
                          <a:solidFill>
                            <a:srgbClr val="102A43"/>
                          </a:solidFill>
                          <a:latin typeface="Apple SD Gothic Neo"/>
                          <a:ea typeface="Apple SD Gothic Neo"/>
                          <a:cs typeface="Apple SD Gothic Neo"/>
                        </a:rPr>
                        <a:t>조사 Sonnet 4.6</a:t>
                      </a:r>
                    </a:p>
                    <a:p>
                      <a:r>
                        <a:rPr sz="1725">
                          <a:solidFill>
                            <a:srgbClr val="102A43"/>
                          </a:solidFill>
                          <a:latin typeface="Apple SD Gothic Neo"/>
                          <a:ea typeface="Apple SD Gothic Neo"/>
                          <a:cs typeface="Apple SD Gothic Neo"/>
                        </a:rPr>
                        <a:t>총괄/검증/보고 Opus 4.6</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동일</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직접 조회 규모</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945개 이벤트, 2개 Source</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7,996개 이벤트, 4개 Source</a:t>
                      </a:r>
                    </a:p>
                  </a:txBody>
                  <a:tcPr marL="91440" marR="91440" marT="45720" marB="45720" anchor="ctr">
                    <a:solidFill>
                      <a:srgbClr val="FFFFFF"/>
                    </a:solidFill>
                  </a:tcPr>
                </a:tc>
              </a:tr>
            </a:tbl>
          </a:graphicData>
        </a:graphic>
      </p:graphicFrame>
      <p:sp>
        <p:nvSpPr>
          <p:cNvPr id="5" name="이벤트 수는 다른 주제를 포함한 기간 전체입니다. 부가서비스 관련 행은 모델">
            <a:extLst xmlns:a="http://schemas.openxmlformats.org/drawingml/2006/main">
              <a:ext uri="{FF2B5EF4-FFF2-40B4-BE49-F238E27FC236}">
                <a16:creationId xmlns:a16="http://schemas.microsoft.com/office/drawing/2014/main" id="{28411976-B313-41DD-8282-9F03A3D0D04F}"/>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이벤트 수는 다른 주제를 포함한 기간 전체입니다. 부가서비스 관련 행은 모델이 직접 질의해 선택했습니다.</a:t>
            </a:r>
          </a:p>
        </p:txBody>
      </p:sp>
    </p:spTree>
    <p:extLst>
      <p:ext uri="{BB962C8B-B14F-4D97-AF65-F5344CB8AC3E}">
        <p14:creationId xmlns:p14="http://schemas.microsoft.com/office/powerpoint/2010/main" val="506608733"/>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제한 분석은 반복 검색 실패와 상담 부담을 포착했습니다">
            <a:extLst xmlns:a="http://schemas.openxmlformats.org/drawingml/2006/main">
              <a:ext uri="{FF2B5EF4-FFF2-40B4-BE49-F238E27FC236}">
                <a16:creationId xmlns:a16="http://schemas.microsoft.com/office/drawing/2014/main" id="{35E1D5E2-A452-4D11-9C29-401571BF8C0E}"/>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제한 분석은 반복 검색 실패와 상담 부담을 포착했습니다</a:t>
            </a:r>
          </a:p>
        </p:txBody>
      </p:sp>
      <p:sp>
        <p:nvSpPr>
          <p:cNvPr id="2" name="검색 이력과 VOC만 제공한 실행 결과">
            <a:extLst xmlns:a="http://schemas.openxmlformats.org/drawingml/2006/main">
              <a:ext uri="{FF2B5EF4-FFF2-40B4-BE49-F238E27FC236}">
                <a16:creationId xmlns:a16="http://schemas.microsoft.com/office/drawing/2014/main" id="{10D35580-B54F-40EA-9A86-4681959337A3}"/>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검색 이력과 VOC만 제공한 실행 결과</a:t>
            </a:r>
          </a:p>
        </p:txBody>
      </p:sp>
      <p:sp>
        <p:nvSpPr>
          <p:cNvPr id="3" name="04">
            <a:extLst xmlns:a="http://schemas.openxmlformats.org/drawingml/2006/main">
              <a:ext uri="{FF2B5EF4-FFF2-40B4-BE49-F238E27FC236}">
                <a16:creationId xmlns:a16="http://schemas.microsoft.com/office/drawing/2014/main" id="{F8525E6D-D591-4E6C-8A31-DF77AA38A94D}"/>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04</a:t>
            </a:r>
          </a:p>
        </p:txBody>
      </p:sp>
      <p:graphicFrame>
        <p:nvGraphicFramePr>
          <p:cNvPr id="13" name="Chart"/>
          <p:cNvGraphicFramePr/>
          <p:nvPr/>
        </p:nvGraphicFramePr>
        <p:xfrm>
          <a:off xmlns:a="http://schemas.openxmlformats.org/drawingml/2006/main" x="571500" y="2009775"/>
          <a:ext xmlns:a="http://schemas.openxmlformats.org/drawingml/2006/main" cx="6896100" cy="3190875"/>
        </p:xfrm>
        <a:graphic xmlns:a="http://schemas.openxmlformats.org/drawingml/2006/main">
          <a:graphicData uri="http://schemas.openxmlformats.org/drawingml/2006/chart">
            <c:chart xmlns:r="http://schemas.openxmlformats.org/officeDocument/2006/relationships" xmlns:c="http://schemas.openxmlformats.org/drawingml/2006/chart" r:id="R51024764cb654c4a"/>
          </a:graphicData>
        </a:graphic>
      </p:graphicFrame>
      <p:sp>
        <p:nvSpPr>
          <p:cNvPr id="5" name="66.7%">
            <a:extLst xmlns:a="http://schemas.openxmlformats.org/drawingml/2006/main">
              <a:ext uri="{FF2B5EF4-FFF2-40B4-BE49-F238E27FC236}">
                <a16:creationId xmlns:a16="http://schemas.microsoft.com/office/drawing/2014/main" id="{4E868CE3-0E57-4DA2-BA99-254C070FAE49}"/>
              </a:ext>
            </a:extLst>
          </p:cNvPr>
          <p:cNvSpPr>
            <a:spLocks xmlns:a="http://schemas.openxmlformats.org/drawingml/2006/main" noGrp="1"/>
          </p:cNvSpPr>
          <p:nvPr/>
        </p:nvSpPr>
        <p:spPr>
          <a:xfrm xmlns:a="http://schemas.openxmlformats.org/drawingml/2006/main">
            <a:off x="8162925" y="2047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36EAC"/>
                </a:solidFill>
                <a:latin typeface="Apple SD Gothic Neo"/>
                <a:ea typeface="Apple SD Gothic Neo"/>
                <a:cs typeface="Apple SD Gothic Neo"/>
              </a:defRPr>
            </a:pPr>
            <a:r>
              <a:rPr sz="5400" b="1">
                <a:solidFill>
                  <a:srgbClr val="336EAC"/>
                </a:solidFill>
                <a:latin typeface="Apple SD Gothic Neo"/>
                <a:ea typeface="Apple SD Gothic Neo"/>
                <a:cs typeface="Apple SD Gothic Neo"/>
              </a:rPr>
              <a:t>66.7%</a:t>
            </a:r>
          </a:p>
        </p:txBody>
      </p:sp>
      <p:sp>
        <p:nvSpPr>
          <p:cNvPr id="6" name="반복 검색 실패 120/180명">
            <a:extLst xmlns:a="http://schemas.openxmlformats.org/drawingml/2006/main">
              <a:ext uri="{FF2B5EF4-FFF2-40B4-BE49-F238E27FC236}">
                <a16:creationId xmlns:a16="http://schemas.microsoft.com/office/drawing/2014/main" id="{0CD7C834-AD81-4C7D-AFD8-02DE280F7CFD}"/>
              </a:ext>
            </a:extLst>
          </p:cNvPr>
          <p:cNvSpPr>
            <a:spLocks xmlns:a="http://schemas.openxmlformats.org/drawingml/2006/main" noGrp="1"/>
          </p:cNvSpPr>
          <p:nvPr/>
        </p:nvSpPr>
        <p:spPr>
          <a:xfrm xmlns:a="http://schemas.openxmlformats.org/drawingml/2006/main">
            <a:off x="8162925" y="30003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A43"/>
                </a:solidFill>
                <a:latin typeface="Apple SD Gothic Neo"/>
                <a:ea typeface="Apple SD Gothic Neo"/>
                <a:cs typeface="Apple SD Gothic Neo"/>
              </a:defRPr>
            </a:pPr>
            <a:r>
              <a:rPr sz="1800" b="0">
                <a:solidFill>
                  <a:srgbClr val="102A43"/>
                </a:solidFill>
                <a:latin typeface="Apple SD Gothic Neo"/>
                <a:ea typeface="Apple SD Gothic Neo"/>
                <a:cs typeface="Apple SD Gothic Neo"/>
              </a:rPr>
              <a:t>반복 검색 실패 120/180명</a:t>
            </a:r>
          </a:p>
        </p:txBody>
      </p:sp>
      <p:sp>
        <p:nvSpPr>
          <p:cNvPr id="7" name="50.8%">
            <a:extLst xmlns:a="http://schemas.openxmlformats.org/drawingml/2006/main">
              <a:ext uri="{FF2B5EF4-FFF2-40B4-BE49-F238E27FC236}">
                <a16:creationId xmlns:a16="http://schemas.microsoft.com/office/drawing/2014/main" id="{CCD9A844-DC7C-4814-AA18-FB9716880091}"/>
              </a:ext>
            </a:extLst>
          </p:cNvPr>
          <p:cNvSpPr>
            <a:spLocks xmlns:a="http://schemas.openxmlformats.org/drawingml/2006/main" noGrp="1"/>
          </p:cNvSpPr>
          <p:nvPr/>
        </p:nvSpPr>
        <p:spPr>
          <a:xfrm xmlns:a="http://schemas.openxmlformats.org/drawingml/2006/main">
            <a:off x="8162925" y="38385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087F8C"/>
                </a:solidFill>
                <a:latin typeface="Apple SD Gothic Neo"/>
                <a:ea typeface="Apple SD Gothic Neo"/>
                <a:cs typeface="Apple SD Gothic Neo"/>
              </a:defRPr>
            </a:pPr>
            <a:r>
              <a:rPr sz="4050" b="1">
                <a:solidFill>
                  <a:srgbClr val="087F8C"/>
                </a:solidFill>
                <a:latin typeface="Apple SD Gothic Neo"/>
                <a:ea typeface="Apple SD Gothic Neo"/>
                <a:cs typeface="Apple SD Gothic Neo"/>
              </a:rPr>
              <a:t>50.8%</a:t>
            </a:r>
          </a:p>
        </p:txBody>
      </p:sp>
      <p:sp>
        <p:nvSpPr>
          <p:cNvPr id="8" name="실패 고객의 상담 전환 61/120명&#10;평균 상담 시간 330초">
            <a:extLst xmlns:a="http://schemas.openxmlformats.org/drawingml/2006/main">
              <a:ext uri="{FF2B5EF4-FFF2-40B4-BE49-F238E27FC236}">
                <a16:creationId xmlns:a16="http://schemas.microsoft.com/office/drawing/2014/main" id="{4E30B1B6-4754-4E99-A1CF-3FDBACC1D168}"/>
              </a:ext>
            </a:extLst>
          </p:cNvPr>
          <p:cNvSpPr>
            <a:spLocks xmlns:a="http://schemas.openxmlformats.org/drawingml/2006/main" noGrp="1"/>
          </p:cNvSpPr>
          <p:nvPr/>
        </p:nvSpPr>
        <p:spPr>
          <a:xfrm xmlns:a="http://schemas.openxmlformats.org/drawingml/2006/main">
            <a:off x="8162925" y="46863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실패 고객의 상담 전환 61/120명</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평균 상담 시간 330초</a:t>
            </a:r>
          </a:p>
        </p:txBody>
      </p:sp>
      <p:sp>
        <p:nvSpPr>
          <p:cNvPr id="9" name="상담 61명은 검색 고객 180명에 모두 포함됩니다. 가입자 모집단과 메뉴 ">
            <a:extLst xmlns:a="http://schemas.openxmlformats.org/drawingml/2006/main">
              <a:ext uri="{FF2B5EF4-FFF2-40B4-BE49-F238E27FC236}">
                <a16:creationId xmlns:a16="http://schemas.microsoft.com/office/drawing/2014/main" id="{F8CE099D-E32C-441C-86B9-F2FFDEB28958}"/>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상담 61명은 검색 고객 180명에 모두 포함됩니다. 가입자 모집단과 메뉴 도달 여부는 이 데이터만으로 확정할 수 없습니다.</a:t>
            </a:r>
          </a:p>
        </p:txBody>
      </p:sp>
    </p:spTree>
    <p:extLst>
      <p:ext uri="{BB962C8B-B14F-4D97-AF65-F5344CB8AC3E}">
        <p14:creationId xmlns:p14="http://schemas.microsoft.com/office/powerpoint/2010/main" val="1783443944"/>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확장 분석의 자동 추천은 도달 고객과 상담 고객에 집중했습니다">
            <a:extLst xmlns:a="http://schemas.openxmlformats.org/drawingml/2006/main">
              <a:ext uri="{FF2B5EF4-FFF2-40B4-BE49-F238E27FC236}">
                <a16:creationId xmlns:a16="http://schemas.microsoft.com/office/drawing/2014/main" id="{981B9A6B-0F0C-4ADB-B3C6-3DD97241C69F}"/>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분석의 자동 추천은 도달 고객과 상담 고객에 집중했습니다</a:t>
            </a:r>
          </a:p>
        </p:txBody>
      </p:sp>
      <p:sp>
        <p:nvSpPr>
          <p:cNvPr id="2" name="최종 추천 API 후보 2개. 아래 이름은 관측 행동에 맞춰 정리했습니다.">
            <a:extLst xmlns:a="http://schemas.openxmlformats.org/drawingml/2006/main">
              <a:ext uri="{FF2B5EF4-FFF2-40B4-BE49-F238E27FC236}">
                <a16:creationId xmlns:a16="http://schemas.microsoft.com/office/drawing/2014/main" id="{EFF2F976-792F-49DB-83FF-B36136EF054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최종 추천 API 후보 2개. 아래 이름은 관측 행동에 맞춰 정리했습니다.</a:t>
            </a:r>
          </a:p>
        </p:txBody>
      </p:sp>
      <p:sp>
        <p:nvSpPr>
          <p:cNvPr id="3" name="05">
            <a:extLst xmlns:a="http://schemas.openxmlformats.org/drawingml/2006/main">
              <a:ext uri="{FF2B5EF4-FFF2-40B4-BE49-F238E27FC236}">
                <a16:creationId xmlns:a16="http://schemas.microsoft.com/office/drawing/2014/main" id="{84BF30FF-D8D5-448C-87A6-0E071E8110BA}"/>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05</a:t>
            </a:r>
          </a:p>
        </p:txBody>
      </p:sp>
      <p:graphicFrame>
        <p:nvGraphicFramePr>
          <p:cNvPr id="11" name=""/>
          <p:cNvGraphicFramePr/>
          <p:nvPr/>
        </p:nvGraphicFramePr>
        <p:xfrm>
          <a:off xmlns:a="http://schemas.openxmlformats.org/drawingml/2006/main" x="609600" y="2038350"/>
          <a:ext xmlns:a="http://schemas.openxmlformats.org/drawingml/2006/main" cx="10972800" cy="2438400"/>
        </p:xfrm>
        <a:graphic xmlns:a="http://schemas.openxmlformats.org/drawingml/2006/main">
          <a:graphicData uri="http://schemas.openxmlformats.org/drawingml/2006/table">
            <a:tbl>
              <a:tblPr firstRow="0" bandRow="0"/>
              <a:tblGrid>
                <a:gridCol w="4572000"/>
                <a:gridCol w="2019300"/>
                <a:gridCol w="4381500"/>
              </a:tblGrid>
              <a:tr h="812800">
                <a:tc>
                  <a:txBody>
                    <a:bodyPr lIns="171450" tIns="95250" rIns="171450" bIns="95250">
                      <a:noAutofit/>
                    </a:bodyPr>
                    <a:lstStyle/>
                    <a:p>
                      <a:r>
                        <a:rPr sz="1650" b="1">
                          <a:solidFill>
                            <a:srgbClr val="FFFFFF"/>
                          </a:solidFill>
                          <a:latin typeface="Apple SD Gothic Neo"/>
                          <a:ea typeface="Apple SD Gothic Neo"/>
                          <a:cs typeface="Apple SD Gothic Neo"/>
                        </a:rPr>
                        <a:t>실제 자동 추천 후보</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서버 측정값</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해석 범위</a:t>
                      </a:r>
                    </a:p>
                  </a:txBody>
                  <a:tcPr marL="91440" marR="91440" marT="45720" marB="45720" anchor="ctr">
                    <a:solidFill>
                      <a:srgbClr val="102A43"/>
                    </a:solidFill>
                  </a:tcPr>
                </a:tc>
              </a:tr>
              <a:tr h="812800">
                <a:tc>
                  <a:txBody>
                    <a:bodyPr lIns="171450" tIns="95250" rIns="171450" bIns="95250">
                      <a:noAutofit/>
                    </a:bodyPr>
                    <a:lstStyle/>
                    <a:p>
                      <a:r>
                        <a:rPr sz="1875">
                          <a:solidFill>
                            <a:srgbClr val="102A43"/>
                          </a:solidFill>
                          <a:latin typeface="Apple SD Gothic Neo"/>
                          <a:ea typeface="Apple SD Gothic Neo"/>
                          <a:cs typeface="Apple SD Gothic Neo"/>
                        </a:rPr>
                        <a:t>여러 메뉴를 경유한 뒤</a:t>
                      </a:r>
                    </a:p>
                    <a:p>
                      <a:r>
                        <a:rPr sz="1875">
                          <a:solidFill>
                            <a:srgbClr val="102A43"/>
                          </a:solidFill>
                          <a:latin typeface="Apple SD Gothic Neo"/>
                          <a:ea typeface="Apple SD Gothic Neo"/>
                          <a:cs typeface="Apple SD Gothic Neo"/>
                        </a:rPr>
                        <a:t>조회/해지 메뉴 도달</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243/340명</a:t>
                      </a:r>
                    </a:p>
                    <a:p>
                      <a:r>
                        <a:rPr sz="1875">
                          <a:solidFill>
                            <a:srgbClr val="102A43"/>
                          </a:solidFill>
                          <a:latin typeface="Apple SD Gothic Neo"/>
                          <a:ea typeface="Apple SD Gothic Neo"/>
                          <a:cs typeface="Apple SD Gothic Neo"/>
                        </a:rPr>
                        <a:t>71.5%</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경유 후 도달을 관측</a:t>
                      </a:r>
                    </a:p>
                    <a:p>
                      <a:r>
                        <a:rPr sz="1875">
                          <a:solidFill>
                            <a:srgbClr val="102A43"/>
                          </a:solidFill>
                          <a:latin typeface="Apple SD Gothic Neo"/>
                          <a:ea typeface="Apple SD Gothic Neo"/>
                          <a:cs typeface="Apple SD Gothic Neo"/>
                        </a:rPr>
                        <a:t>243명 전원의 헤맴은 미확정</a:t>
                      </a:r>
                    </a:p>
                  </a:txBody>
                  <a:tcPr marL="91440" marR="91440" marT="45720" marB="45720" anchor="ctr">
                    <a:solidFill>
                      <a:srgbClr val="FFFFFF"/>
                    </a:solidFill>
                  </a:tcPr>
                </a:tc>
              </a:tr>
              <a:tr h="812800">
                <a:tc>
                  <a:txBody>
                    <a:bodyPr lIns="171450" tIns="95250" rIns="171450" bIns="95250">
                      <a:noAutofit/>
                    </a:bodyPr>
                    <a:lstStyle/>
                    <a:p>
                      <a:r>
                        <a:rPr sz="1875">
                          <a:solidFill>
                            <a:srgbClr val="102A43"/>
                          </a:solidFill>
                          <a:latin typeface="Apple SD Gothic Neo"/>
                          <a:ea typeface="Apple SD Gothic Neo"/>
                          <a:cs typeface="Apple SD Gothic Neo"/>
                        </a:rPr>
                        <a:t>부가서비스 검색 고객의</a:t>
                      </a:r>
                    </a:p>
                    <a:p>
                      <a:r>
                        <a:rPr sz="1875">
                          <a:solidFill>
                            <a:srgbClr val="102A43"/>
                          </a:solidFill>
                          <a:latin typeface="Apple SD Gothic Neo"/>
                          <a:ea typeface="Apple SD Gothic Neo"/>
                          <a:cs typeface="Apple SD Gothic Neo"/>
                        </a:rPr>
                        <a:t>VOC 상담 유입</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61/180명</a:t>
                      </a:r>
                    </a:p>
                    <a:p>
                      <a:r>
                        <a:rPr sz="1875">
                          <a:solidFill>
                            <a:srgbClr val="102A43"/>
                          </a:solidFill>
                          <a:latin typeface="Apple SD Gothic Neo"/>
                          <a:ea typeface="Apple SD Gothic Neo"/>
                          <a:cs typeface="Apple SD Gothic Neo"/>
                        </a:rPr>
                        <a:t>33.9%</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평균 상담 330초</a:t>
                      </a:r>
                    </a:p>
                    <a:p>
                      <a:r>
                        <a:rPr sz="1875">
                          <a:solidFill>
                            <a:srgbClr val="102A43"/>
                          </a:solidFill>
                          <a:latin typeface="Apple SD Gothic Neo"/>
                          <a:ea typeface="Apple SD Gothic Neo"/>
                          <a:cs typeface="Apple SD Gothic Neo"/>
                        </a:rPr>
                        <a:t>61명 중 40명은 메뉴에도 도달</a:t>
                      </a:r>
                    </a:p>
                  </a:txBody>
                  <a:tcPr marL="91440" marR="91440" marT="45720" marB="45720" anchor="ctr">
                    <a:solidFill>
                      <a:srgbClr val="FFFFFF"/>
                    </a:solidFill>
                  </a:tcPr>
                </a:tc>
              </a:tr>
            </a:tbl>
          </a:graphicData>
        </a:graphic>
      </p:graphicFrame>
      <p:sp>
        <p:nvSpPr>
          <p:cNvPr id="5" name="264명 = 243명 + 61명 − 40명">
            <a:extLst xmlns:a="http://schemas.openxmlformats.org/drawingml/2006/main">
              <a:ext uri="{FF2B5EF4-FFF2-40B4-BE49-F238E27FC236}">
                <a16:creationId xmlns:a16="http://schemas.microsoft.com/office/drawing/2014/main" id="{A73E0CD2-972C-4F5D-9BFF-B6DB84C5D130}"/>
              </a:ext>
            </a:extLst>
          </p:cNvPr>
          <p:cNvSpPr>
            <a:spLocks xmlns:a="http://schemas.openxmlformats.org/drawingml/2006/main" noGrp="1"/>
          </p:cNvSpPr>
          <p:nvPr/>
        </p:nvSpPr>
        <p:spPr>
          <a:xfrm xmlns:a="http://schemas.openxmlformats.org/drawingml/2006/main">
            <a:off x="609600" y="49053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02A43"/>
                </a:solidFill>
                <a:latin typeface="Apple SD Gothic Neo"/>
                <a:ea typeface="Apple SD Gothic Neo"/>
                <a:cs typeface="Apple SD Gothic Neo"/>
              </a:defRPr>
            </a:pPr>
            <a:r>
              <a:rPr sz="2925" b="1">
                <a:solidFill>
                  <a:srgbClr val="102A43"/>
                </a:solidFill>
                <a:latin typeface="Apple SD Gothic Neo"/>
                <a:ea typeface="Apple SD Gothic Neo"/>
                <a:cs typeface="Apple SD Gothic Neo"/>
              </a:rPr>
              <a:t>264명 = 243명 + 61명 − 40명</a:t>
            </a:r>
          </a:p>
        </p:txBody>
      </p:sp>
      <p:sp>
        <p:nvSpPr>
          <p:cNvPr id="6" name="보고서 상단의 확정 고객 수는 두 패턴의 합집합입니다.">
            <a:extLst xmlns:a="http://schemas.openxmlformats.org/drawingml/2006/main">
              <a:ext uri="{FF2B5EF4-FFF2-40B4-BE49-F238E27FC236}">
                <a16:creationId xmlns:a16="http://schemas.microsoft.com/office/drawing/2014/main" id="{92294046-A9AC-4D39-B966-4B96A8301DEE}"/>
              </a:ext>
            </a:extLst>
          </p:cNvPr>
          <p:cNvSpPr>
            <a:spLocks xmlns:a="http://schemas.openxmlformats.org/drawingml/2006/main" noGrp="1"/>
          </p:cNvSpPr>
          <p:nvPr/>
        </p:nvSpPr>
        <p:spPr>
          <a:xfrm xmlns:a="http://schemas.openxmlformats.org/drawingml/2006/main">
            <a:off x="609600" y="549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보고서 상단의 확정 고객 수는 두 패턴의 합집합입니다.</a:t>
            </a:r>
          </a:p>
        </p:txBody>
      </p:sp>
      <p:sp>
        <p:nvSpPr>
          <p:cNvPr id="7" name="제한 분석의 120명과 패턴 정의가 다르므로, 120명에서 264명으로 문제">
            <a:extLst xmlns:a="http://schemas.openxmlformats.org/drawingml/2006/main">
              <a:ext uri="{FF2B5EF4-FFF2-40B4-BE49-F238E27FC236}">
                <a16:creationId xmlns:a16="http://schemas.microsoft.com/office/drawing/2014/main" id="{83CFEAB8-714A-427E-BBCA-70192920BDD1}"/>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제한 분석의 120명과 패턴 정의가 다르므로, 120명에서 264명으로 문제 규모가 증가했다고 해석할 수 없습니다.</a:t>
            </a:r>
          </a:p>
        </p:txBody>
      </p:sp>
    </p:spTree>
    <p:extLst>
      <p:ext uri="{BB962C8B-B14F-4D97-AF65-F5344CB8AC3E}">
        <p14:creationId xmlns:p14="http://schemas.microsoft.com/office/powerpoint/2010/main" val="1955967488"/>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확장 검증은 잘못된 이탈 추정을 걸러냈습니다">
            <a:extLst xmlns:a="http://schemas.openxmlformats.org/drawingml/2006/main">
              <a:ext uri="{FF2B5EF4-FFF2-40B4-BE49-F238E27FC236}">
                <a16:creationId xmlns:a16="http://schemas.microsoft.com/office/drawing/2014/main" id="{833F628D-C9E6-43A0-97DA-7A89BCF7AD51}"/>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검증은 잘못된 이탈 추정을 걸러냈습니다</a:t>
            </a:r>
          </a:p>
        </p:txBody>
      </p:sp>
      <p:sp>
        <p:nvSpPr>
          <p:cNvPr id="2" name="메뉴 도달 기록을 결합해 조사 단계의 주장을 다시 확인했습니다.">
            <a:extLst xmlns:a="http://schemas.openxmlformats.org/drawingml/2006/main">
              <a:ext uri="{FF2B5EF4-FFF2-40B4-BE49-F238E27FC236}">
                <a16:creationId xmlns:a16="http://schemas.microsoft.com/office/drawing/2014/main" id="{E7ED785D-E4B3-465C-AD29-2BB4EB779EE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메뉴 도달 기록을 결합해 조사 단계의 주장을 다시 확인했습니다.</a:t>
            </a:r>
          </a:p>
        </p:txBody>
      </p:sp>
      <p:sp>
        <p:nvSpPr>
          <p:cNvPr id="3" name="06">
            <a:extLst xmlns:a="http://schemas.openxmlformats.org/drawingml/2006/main">
              <a:ext uri="{FF2B5EF4-FFF2-40B4-BE49-F238E27FC236}">
                <a16:creationId xmlns:a16="http://schemas.microsoft.com/office/drawing/2014/main" id="{5DE01F4C-790B-41E2-B35D-BEEA4163AEA0}"/>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06</a:t>
            </a:r>
          </a:p>
        </p:txBody>
      </p:sp>
      <p:sp>
        <p:nvSpPr>
          <p:cNvPr id="4" name="59명">
            <a:extLst xmlns:a="http://schemas.openxmlformats.org/drawingml/2006/main">
              <a:ext uri="{FF2B5EF4-FFF2-40B4-BE49-F238E27FC236}">
                <a16:creationId xmlns:a16="http://schemas.microsoft.com/office/drawing/2014/main" id="{849B35AD-DA70-4839-956B-5784EAC77D3E}"/>
              </a:ext>
            </a:extLst>
          </p:cNvPr>
          <p:cNvSpPr>
            <a:spLocks xmlns:a="http://schemas.openxmlformats.org/drawingml/2006/main" noGrp="1"/>
          </p:cNvSpPr>
          <p:nvPr/>
        </p:nvSpPr>
        <p:spPr>
          <a:xfrm xmlns:a="http://schemas.openxmlformats.org/drawingml/2006/main">
            <a:off x="609600" y="21145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87F8C"/>
                </a:solidFill>
                <a:latin typeface="Apple SD Gothic Neo"/>
                <a:ea typeface="Apple SD Gothic Neo"/>
                <a:cs typeface="Apple SD Gothic Neo"/>
              </a:defRPr>
            </a:pPr>
            <a:r>
              <a:rPr sz="5400" b="1">
                <a:solidFill>
                  <a:srgbClr val="087F8C"/>
                </a:solidFill>
                <a:latin typeface="Apple SD Gothic Neo"/>
                <a:ea typeface="Apple SD Gothic Neo"/>
                <a:cs typeface="Apple SD Gothic Neo"/>
              </a:rPr>
              <a:t>59명</a:t>
            </a:r>
          </a:p>
        </p:txBody>
      </p:sp>
      <p:sp>
        <p:nvSpPr>
          <p:cNvPr id="5" name="이탈 추정 기각">
            <a:extLst xmlns:a="http://schemas.openxmlformats.org/drawingml/2006/main">
              <a:ext uri="{FF2B5EF4-FFF2-40B4-BE49-F238E27FC236}">
                <a16:creationId xmlns:a16="http://schemas.microsoft.com/office/drawing/2014/main" id="{0CC2AD24-AB72-4A28-A260-7F3E616E83AA}"/>
              </a:ext>
            </a:extLst>
          </p:cNvPr>
          <p:cNvSpPr>
            <a:spLocks xmlns:a="http://schemas.openxmlformats.org/drawingml/2006/main" noGrp="1"/>
          </p:cNvSpPr>
          <p:nvPr/>
        </p:nvSpPr>
        <p:spPr>
          <a:xfrm xmlns:a="http://schemas.openxmlformats.org/drawingml/2006/main">
            <a:off x="609600" y="308610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2A43"/>
                </a:solidFill>
                <a:latin typeface="Apple SD Gothic Neo"/>
                <a:ea typeface="Apple SD Gothic Neo"/>
                <a:cs typeface="Apple SD Gothic Neo"/>
              </a:defRPr>
            </a:pPr>
            <a:r>
              <a:rPr sz="2550" b="1">
                <a:solidFill>
                  <a:srgbClr val="102A43"/>
                </a:solidFill>
                <a:latin typeface="Apple SD Gothic Neo"/>
                <a:ea typeface="Apple SD Gothic Neo"/>
                <a:cs typeface="Apple SD Gothic Neo"/>
              </a:rPr>
              <a:t>이탈 추정 기각</a:t>
            </a:r>
          </a:p>
        </p:txBody>
      </p:sp>
      <p:sp>
        <p:nvSpPr>
          <p:cNvPr id="6" name="반복 검색 실패 후 상담이 없던 고객&#10;59명 전원에게 목표 메뉴 도달 기록이">
            <a:extLst xmlns:a="http://schemas.openxmlformats.org/drawingml/2006/main">
              <a:ext uri="{FF2B5EF4-FFF2-40B4-BE49-F238E27FC236}">
                <a16:creationId xmlns:a16="http://schemas.microsoft.com/office/drawing/2014/main" id="{A2E2EBCD-B18A-4667-A7F8-654484E540BE}"/>
              </a:ext>
            </a:extLst>
          </p:cNvPr>
          <p:cNvSpPr>
            <a:spLocks xmlns:a="http://schemas.openxmlformats.org/drawingml/2006/main" noGrp="1"/>
          </p:cNvSpPr>
          <p:nvPr/>
        </p:nvSpPr>
        <p:spPr>
          <a:xfrm xmlns:a="http://schemas.openxmlformats.org/drawingml/2006/main">
            <a:off x="609600" y="3800475"/>
            <a:ext cx="48958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반복 검색 실패 후 상담이 없던 고객</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59명 전원에게 목표 메뉴 도달 기록이</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있었습니다.</a:t>
            </a:r>
          </a:p>
        </p:txBody>
      </p:sp>
      <p:sp>
        <p:nvSpPr>
          <p:cNvPr id="7" name="99명 / 120명">
            <a:extLst xmlns:a="http://schemas.openxmlformats.org/drawingml/2006/main">
              <a:ext uri="{FF2B5EF4-FFF2-40B4-BE49-F238E27FC236}">
                <a16:creationId xmlns:a16="http://schemas.microsoft.com/office/drawing/2014/main" id="{4C22C0B8-EFA8-4745-9887-95617AEDB50F}"/>
              </a:ext>
            </a:extLst>
          </p:cNvPr>
          <p:cNvSpPr>
            <a:spLocks xmlns:a="http://schemas.openxmlformats.org/drawingml/2006/main" noGrp="1"/>
          </p:cNvSpPr>
          <p:nvPr/>
        </p:nvSpPr>
        <p:spPr>
          <a:xfrm xmlns:a="http://schemas.openxmlformats.org/drawingml/2006/main">
            <a:off x="6486525" y="2209800"/>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B5472A"/>
                </a:solidFill>
                <a:latin typeface="Apple SD Gothic Neo"/>
                <a:ea typeface="Apple SD Gothic Neo"/>
                <a:cs typeface="Apple SD Gothic Neo"/>
              </a:defRPr>
            </a:pPr>
            <a:r>
              <a:rPr sz="4125" b="1">
                <a:solidFill>
                  <a:srgbClr val="B5472A"/>
                </a:solidFill>
                <a:latin typeface="Apple SD Gothic Neo"/>
                <a:ea typeface="Apple SD Gothic Neo"/>
                <a:cs typeface="Apple SD Gothic Neo"/>
              </a:rPr>
              <a:t>99명 / 120명</a:t>
            </a:r>
          </a:p>
        </p:txBody>
      </p:sp>
      <p:sp>
        <p:nvSpPr>
          <p:cNvPr id="8" name="메뉴 미도달 주장 보류">
            <a:extLst xmlns:a="http://schemas.openxmlformats.org/drawingml/2006/main">
              <a:ext uri="{FF2B5EF4-FFF2-40B4-BE49-F238E27FC236}">
                <a16:creationId xmlns:a16="http://schemas.microsoft.com/office/drawing/2014/main" id="{E67502C4-1348-450C-A838-30346AA4A700}"/>
              </a:ext>
            </a:extLst>
          </p:cNvPr>
          <p:cNvSpPr>
            <a:spLocks xmlns:a="http://schemas.openxmlformats.org/drawingml/2006/main" noGrp="1"/>
          </p:cNvSpPr>
          <p:nvPr/>
        </p:nvSpPr>
        <p:spPr>
          <a:xfrm xmlns:a="http://schemas.openxmlformats.org/drawingml/2006/main">
            <a:off x="6486525" y="30861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2A43"/>
                </a:solidFill>
                <a:latin typeface="Apple SD Gothic Neo"/>
                <a:ea typeface="Apple SD Gothic Neo"/>
                <a:cs typeface="Apple SD Gothic Neo"/>
              </a:defRPr>
            </a:pPr>
            <a:r>
              <a:rPr sz="2550" b="1">
                <a:solidFill>
                  <a:srgbClr val="102A43"/>
                </a:solidFill>
                <a:latin typeface="Apple SD Gothic Neo"/>
                <a:ea typeface="Apple SD Gothic Neo"/>
                <a:cs typeface="Apple SD Gothic Neo"/>
              </a:rPr>
              <a:t>메뉴 미도달 주장 보류</a:t>
            </a:r>
          </a:p>
        </p:txBody>
      </p:sp>
      <p:sp>
        <p:nvSpPr>
          <p:cNvPr id="9" name="검색 failed 120명 중 99명이&#10;메뉴에 도달했습니다. 검증자는&#10;후보를">
            <a:extLst xmlns:a="http://schemas.openxmlformats.org/drawingml/2006/main">
              <a:ext uri="{FF2B5EF4-FFF2-40B4-BE49-F238E27FC236}">
                <a16:creationId xmlns:a16="http://schemas.microsoft.com/office/drawing/2014/main" id="{1E3D8A9A-0AE5-439D-ACE5-019890BF9B68}"/>
              </a:ext>
            </a:extLst>
          </p:cNvPr>
          <p:cNvSpPr>
            <a:spLocks xmlns:a="http://schemas.openxmlformats.org/drawingml/2006/main" noGrp="1"/>
          </p:cNvSpPr>
          <p:nvPr/>
        </p:nvSpPr>
        <p:spPr>
          <a:xfrm xmlns:a="http://schemas.openxmlformats.org/drawingml/2006/main">
            <a:off x="6486525" y="3800475"/>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검색 failed 120명 중 99명이</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메뉴에 도달했습니다. 검증자는</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후보를 미확정으로 남겼습니다.</a:t>
            </a:r>
          </a:p>
        </p:txBody>
      </p:sp>
      <p:sp>
        <p:nvSpPr>
          <p:cNvPr id="10" name="오른쪽 미확정 후보는 최종 추천 API에서 제외됐습니다. 메뉴 도달은 실제 ">
            <a:extLst xmlns:a="http://schemas.openxmlformats.org/drawingml/2006/main">
              <a:ext uri="{FF2B5EF4-FFF2-40B4-BE49-F238E27FC236}">
                <a16:creationId xmlns:a16="http://schemas.microsoft.com/office/drawing/2014/main" id="{ACAE4A40-23A3-4157-B642-E86A447220FE}"/>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오른쪽 미확정 후보는 최종 추천 API에서 제외됐습니다. 메뉴 도달은 실제 해지 완료와 구분해야 합니다.</a:t>
            </a:r>
          </a:p>
        </p:txBody>
      </p:sp>
    </p:spTree>
    <p:extLst>
      <p:ext uri="{BB962C8B-B14F-4D97-AF65-F5344CB8AC3E}">
        <p14:creationId xmlns:p14="http://schemas.microsoft.com/office/powerpoint/2010/main" val="1889663196"/>
      </p:ext>
    </p:extLst>
  </p:cSld>
</p:sld>
</file>

<file path=ppt/slides/slide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활성 탐색 고객 340명 중 97명은 메뉴 도달 기록이 없습니다">
            <a:extLst xmlns:a="http://schemas.openxmlformats.org/drawingml/2006/main">
              <a:ext uri="{FF2B5EF4-FFF2-40B4-BE49-F238E27FC236}">
                <a16:creationId xmlns:a16="http://schemas.microsoft.com/office/drawing/2014/main" id="{30C699A4-F48F-4C20-9895-18F7C615621B}"/>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활성 탐색 고객 340명 중 97명은 메뉴 도달 기록이 없습니다</a:t>
            </a:r>
          </a:p>
        </p:txBody>
      </p:sp>
      <p:sp>
        <p:nvSpPr>
          <p:cNvPr id="2" name="독립 측정 결과. 모델의 최종 자동 추천에는 포함되지 않았습니다.">
            <a:extLst xmlns:a="http://schemas.openxmlformats.org/drawingml/2006/main">
              <a:ext uri="{FF2B5EF4-FFF2-40B4-BE49-F238E27FC236}">
                <a16:creationId xmlns:a16="http://schemas.microsoft.com/office/drawing/2014/main" id="{724C8501-72F5-42DD-B68B-37C23DE0625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83E1D0"/>
                </a:solidFill>
                <a:latin typeface="Apple SD Gothic Neo"/>
                <a:ea typeface="Apple SD Gothic Neo"/>
                <a:cs typeface="Apple SD Gothic Neo"/>
              </a:defRPr>
            </a:pPr>
            <a:r>
              <a:rPr sz="1800" b="0">
                <a:solidFill>
                  <a:srgbClr val="83E1D0"/>
                </a:solidFill>
                <a:latin typeface="Apple SD Gothic Neo"/>
                <a:ea typeface="Apple SD Gothic Neo"/>
                <a:cs typeface="Apple SD Gothic Neo"/>
              </a:rPr>
              <a:t>독립 측정 결과. 모델의 최종 자동 추천에는 포함되지 않았습니다.</a:t>
            </a:r>
          </a:p>
        </p:txBody>
      </p:sp>
      <p:sp>
        <p:nvSpPr>
          <p:cNvPr id="3" name="07">
            <a:extLst xmlns:a="http://schemas.openxmlformats.org/drawingml/2006/main">
              <a:ext uri="{FF2B5EF4-FFF2-40B4-BE49-F238E27FC236}">
                <a16:creationId xmlns:a16="http://schemas.microsoft.com/office/drawing/2014/main" id="{00668D5C-61BD-4FD1-A520-90AD8DD2A797}"/>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07</a:t>
            </a:r>
          </a:p>
        </p:txBody>
      </p:sp>
      <p:graphicFrame>
        <p:nvGraphicFramePr>
          <p:cNvPr id="12" name="Chart"/>
          <p:cNvGraphicFramePr/>
          <p:nvPr/>
        </p:nvGraphicFramePr>
        <p:xfrm>
          <a:off xmlns:a="http://schemas.openxmlformats.org/drawingml/2006/main" x="742950" y="2019300"/>
          <a:ext xmlns:a="http://schemas.openxmlformats.org/drawingml/2006/main" cx="4762500" cy="3609975"/>
        </p:xfrm>
        <a:graphic xmlns:a="http://schemas.openxmlformats.org/drawingml/2006/main">
          <a:graphicData uri="http://schemas.openxmlformats.org/drawingml/2006/chart">
            <c:chart xmlns:r="http://schemas.openxmlformats.org/officeDocument/2006/relationships" xmlns:c="http://schemas.openxmlformats.org/drawingml/2006/chart" r:id="Rdd0b0d1269904b64"/>
          </a:graphicData>
        </a:graphic>
      </p:graphicFrame>
      <p:sp>
        <p:nvSpPr>
          <p:cNvPr id="5" name="28.5%">
            <a:extLst xmlns:a="http://schemas.openxmlformats.org/drawingml/2006/main">
              <a:ext uri="{FF2B5EF4-FFF2-40B4-BE49-F238E27FC236}">
                <a16:creationId xmlns:a16="http://schemas.microsoft.com/office/drawing/2014/main" id="{98182DEC-1481-41B3-AFBD-988937C9DA6B}"/>
              </a:ext>
            </a:extLst>
          </p:cNvPr>
          <p:cNvSpPr>
            <a:spLocks xmlns:a="http://schemas.openxmlformats.org/drawingml/2006/main" noGrp="1"/>
          </p:cNvSpPr>
          <p:nvPr/>
        </p:nvSpPr>
        <p:spPr>
          <a:xfrm xmlns:a="http://schemas.openxmlformats.org/drawingml/2006/main">
            <a:off x="6524625" y="2114550"/>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83E1D0"/>
                </a:solidFill>
                <a:latin typeface="Apple SD Gothic Neo"/>
                <a:ea typeface="Apple SD Gothic Neo"/>
                <a:cs typeface="Apple SD Gothic Neo"/>
              </a:defRPr>
            </a:pPr>
            <a:r>
              <a:rPr sz="6600" b="1">
                <a:solidFill>
                  <a:srgbClr val="83E1D0"/>
                </a:solidFill>
                <a:latin typeface="Apple SD Gothic Neo"/>
                <a:ea typeface="Apple SD Gothic Neo"/>
                <a:cs typeface="Apple SD Gothic Neo"/>
              </a:rPr>
              <a:t>28.5%</a:t>
            </a:r>
          </a:p>
        </p:txBody>
      </p:sp>
      <p:sp>
        <p:nvSpPr>
          <p:cNvPr id="6" name="97명 / 관측한 활성 탐색 고객 340명">
            <a:extLst xmlns:a="http://schemas.openxmlformats.org/drawingml/2006/main">
              <a:ext uri="{FF2B5EF4-FFF2-40B4-BE49-F238E27FC236}">
                <a16:creationId xmlns:a16="http://schemas.microsoft.com/office/drawing/2014/main" id="{0FBAEE7D-7F11-455E-922F-0E7250C9C279}"/>
              </a:ext>
            </a:extLst>
          </p:cNvPr>
          <p:cNvSpPr>
            <a:spLocks xmlns:a="http://schemas.openxmlformats.org/drawingml/2006/main" noGrp="1"/>
          </p:cNvSpPr>
          <p:nvPr/>
        </p:nvSpPr>
        <p:spPr>
          <a:xfrm xmlns:a="http://schemas.openxmlformats.org/drawingml/2006/main">
            <a:off x="6524625" y="3295650"/>
            <a:ext cx="4972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Apple SD Gothic Neo"/>
                <a:ea typeface="Apple SD Gothic Neo"/>
                <a:cs typeface="Apple SD Gothic Neo"/>
              </a:defRPr>
            </a:pPr>
            <a:r>
              <a:rPr sz="2025" b="0">
                <a:solidFill>
                  <a:srgbClr val="FFFFFF"/>
                </a:solidFill>
                <a:latin typeface="Apple SD Gothic Neo"/>
                <a:ea typeface="Apple SD Gothic Neo"/>
                <a:cs typeface="Apple SD Gothic Neo"/>
              </a:rPr>
              <a:t>97명 / 관측한 활성 탐색 고객 340명</a:t>
            </a:r>
          </a:p>
        </p:txBody>
      </p:sp>
      <p:sp>
        <p:nvSpPr>
          <p:cNvPr id="7" name="이 중 16명은&#10;검색과 VOC에도 나타나지 않습니다.">
            <a:extLst xmlns:a="http://schemas.openxmlformats.org/drawingml/2006/main">
              <a:ext uri="{FF2B5EF4-FFF2-40B4-BE49-F238E27FC236}">
                <a16:creationId xmlns:a16="http://schemas.microsoft.com/office/drawing/2014/main" id="{781AB7FF-B94C-467B-A00D-69BDB332FB3E}"/>
              </a:ext>
            </a:extLst>
          </p:cNvPr>
          <p:cNvSpPr>
            <a:spLocks xmlns:a="http://schemas.openxmlformats.org/drawingml/2006/main" noGrp="1"/>
          </p:cNvSpPr>
          <p:nvPr/>
        </p:nvSpPr>
        <p:spPr>
          <a:xfrm xmlns:a="http://schemas.openxmlformats.org/drawingml/2006/main">
            <a:off x="6524625" y="4286250"/>
            <a:ext cx="5048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이 중 16명은</a:t>
            </a:r>
          </a:p>
          <a:p xmlns:a="http://schemas.openxmlformats.org/drawingml/2006/main">
            <a:pPr algn="l">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검색과 VOC에도 나타나지 않습니다.</a:t>
            </a:r>
          </a:p>
        </p:txBody>
      </p:sp>
      <p:sp>
        <p:nvSpPr>
          <p:cNvPr id="8" name="분모는 기간 내 활성 가입 기록과 앱 menu_view가 있는 고객입니다. ">
            <a:extLst xmlns:a="http://schemas.openxmlformats.org/drawingml/2006/main">
              <a:ext uri="{FF2B5EF4-FFF2-40B4-BE49-F238E27FC236}">
                <a16:creationId xmlns:a16="http://schemas.microsoft.com/office/drawing/2014/main" id="{5F0CEA62-C6EB-402E-9538-8A53F9F7AC8C}"/>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7D7E3"/>
                </a:solidFill>
                <a:latin typeface="Apple SD Gothic Neo"/>
                <a:ea typeface="Apple SD Gothic Neo"/>
                <a:cs typeface="Apple SD Gothic Neo"/>
              </a:defRPr>
            </a:pPr>
            <a:r>
              <a:rPr sz="1350" b="0">
                <a:solidFill>
                  <a:srgbClr val="C7D7E3"/>
                </a:solidFill>
                <a:latin typeface="Apple SD Gothic Neo"/>
                <a:ea typeface="Apple SD Gothic Neo"/>
                <a:cs typeface="Apple SD Gothic Neo"/>
              </a:rPr>
              <a:t>분모는 기간 내 활성 가입 기록과 앱 menu_view가 있는 고객입니다. 16명의 실제 조회/해지 의도는 미확인입니다.</a:t>
            </a:r>
          </a:p>
        </p:txBody>
      </p:sp>
    </p:spTree>
    <p:extLst>
      <p:ext uri="{BB962C8B-B14F-4D97-AF65-F5344CB8AC3E}">
        <p14:creationId xmlns:p14="http://schemas.microsoft.com/office/powerpoint/2010/main" val="1783001308"/>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메뉴 도달 미관측 고객의 16.5%는 지원 채널에도 없습니다">
            <a:extLst xmlns:a="http://schemas.openxmlformats.org/drawingml/2006/main">
              <a:ext uri="{FF2B5EF4-FFF2-40B4-BE49-F238E27FC236}">
                <a16:creationId xmlns:a16="http://schemas.microsoft.com/office/drawing/2014/main" id="{241EC63C-B215-4BD5-8777-0EBA5378F5FD}"/>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메뉴 도달 미관측 고객의 16.5%는 지원 채널에도 없습니다</a:t>
            </a:r>
          </a:p>
        </p:txBody>
      </p:sp>
      <p:sp>
        <p:nvSpPr>
          <p:cNvPr id="2" name="활성 가입과 앱 탐색 고객 340명의 채널 관측 및 메뉴 도달 교차 집계">
            <a:extLst xmlns:a="http://schemas.openxmlformats.org/drawingml/2006/main">
              <a:ext uri="{FF2B5EF4-FFF2-40B4-BE49-F238E27FC236}">
                <a16:creationId xmlns:a16="http://schemas.microsoft.com/office/drawing/2014/main" id="{BD10ADA3-3441-4D2D-B35E-95E75E7D7F37}"/>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활성 가입과 앱 탐색 고객 340명의 채널 관측 및 메뉴 도달 교차 집계</a:t>
            </a:r>
          </a:p>
        </p:txBody>
      </p:sp>
      <p:sp>
        <p:nvSpPr>
          <p:cNvPr id="3" name="08">
            <a:extLst xmlns:a="http://schemas.openxmlformats.org/drawingml/2006/main">
              <a:ext uri="{FF2B5EF4-FFF2-40B4-BE49-F238E27FC236}">
                <a16:creationId xmlns:a16="http://schemas.microsoft.com/office/drawing/2014/main" id="{A26B8116-AD39-47B6-B10B-47C7B411CE7B}"/>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08</a:t>
            </a:r>
          </a:p>
        </p:txBody>
      </p:sp>
      <p:graphicFrame>
        <p:nvGraphicFramePr>
          <p:cNvPr id="10" name=""/>
          <p:cNvGraphicFramePr/>
          <p:nvPr/>
        </p:nvGraphicFramePr>
        <p:xfrm>
          <a:off xmlns:a="http://schemas.openxmlformats.org/drawingml/2006/main" x="609600" y="2095500"/>
          <a:ext xmlns:a="http://schemas.openxmlformats.org/drawingml/2006/main" cx="10972800" cy="3028950"/>
        </p:xfrm>
        <a:graphic xmlns:a="http://schemas.openxmlformats.org/drawingml/2006/main">
          <a:graphicData uri="http://schemas.openxmlformats.org/drawingml/2006/table">
            <a:tbl>
              <a:tblPr firstRow="0" bandRow="0"/>
              <a:tblGrid>
                <a:gridCol w="5143500"/>
                <a:gridCol w="1657350"/>
                <a:gridCol w="2038350"/>
                <a:gridCol w="2133600"/>
              </a:tblGrid>
              <a:tr h="605790">
                <a:tc>
                  <a:txBody>
                    <a:bodyPr lIns="171450" tIns="95250" rIns="171450" bIns="95250">
                      <a:noAutofit/>
                    </a:bodyPr>
                    <a:lstStyle/>
                    <a:p>
                      <a:r>
                        <a:rPr sz="1650" b="1">
                          <a:solidFill>
                            <a:srgbClr val="FFFFFF"/>
                          </a:solidFill>
                          <a:latin typeface="Apple SD Gothic Neo"/>
                          <a:ea typeface="Apple SD Gothic Neo"/>
                          <a:cs typeface="Apple SD Gothic Neo"/>
                        </a:rPr>
                        <a:t>해당 주간 지원 채널 관측</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고객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메뉴 도달</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도달 미관측</a:t>
                      </a:r>
                    </a:p>
                  </a:txBody>
                  <a:tcPr marL="91440" marR="91440" marT="45720" marB="45720" anchor="ctr">
                    <a:solidFill>
                      <a:srgbClr val="102A43"/>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검색과 VOC 모두 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61</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40</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21</a:t>
                      </a:r>
                    </a:p>
                  </a:txBody>
                  <a:tcPr marL="91440" marR="91440" marT="45720" marB="45720" anchor="ctr">
                    <a:solidFill>
                      <a:srgbClr val="FFFFFF"/>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검색만 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119</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59</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60</a:t>
                      </a:r>
                    </a:p>
                  </a:txBody>
                  <a:tcPr marL="91440" marR="91440" marT="45720" marB="45720" anchor="ctr">
                    <a:solidFill>
                      <a:srgbClr val="FFFFFF"/>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검색과 VOC 모두 미관측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160</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144</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16</a:t>
                      </a:r>
                    </a:p>
                  </a:txBody>
                  <a:tcPr marL="91440" marR="91440" marT="45720" marB="45720" anchor="ctr">
                    <a:solidFill>
                      <a:srgbClr val="FFFFFF"/>
                    </a:solidFill>
                  </a:tcPr>
                </a:tc>
              </a:tr>
              <a:tr h="605790">
                <a:tc>
                  <a:txBody>
                    <a:bodyPr lIns="171450" tIns="95250" rIns="171450" bIns="95250">
                      <a:noAutofit/>
                    </a:bodyPr>
                    <a:lstStyle/>
                    <a:p>
                      <a:r>
                        <a:rPr sz="1950" b="1">
                          <a:solidFill>
                            <a:srgbClr val="102A43"/>
                          </a:solidFill>
                          <a:latin typeface="Apple SD Gothic Neo"/>
                          <a:ea typeface="Apple SD Gothic Neo"/>
                          <a:cs typeface="Apple SD Gothic Neo"/>
                        </a:rPr>
                        <a:t>합계</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340</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243</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97</a:t>
                      </a:r>
                    </a:p>
                  </a:txBody>
                  <a:tcPr marL="91440" marR="91440" marT="45720" marB="45720" anchor="ctr">
                    <a:solidFill>
                      <a:srgbClr val="E9F3F4"/>
                    </a:solidFill>
                  </a:tcPr>
                </a:tc>
              </a:tr>
            </a:tbl>
          </a:graphicData>
        </a:graphic>
      </p:graphicFrame>
      <p:sp>
        <p:nvSpPr>
          <p:cNvPr id="5" name="16 / 97명 = 16.5%">
            <a:extLst xmlns:a="http://schemas.openxmlformats.org/drawingml/2006/main">
              <a:ext uri="{FF2B5EF4-FFF2-40B4-BE49-F238E27FC236}">
                <a16:creationId xmlns:a16="http://schemas.microsoft.com/office/drawing/2014/main" id="{9F251CEC-13D4-4E2F-A15A-59542A4E1FF0}"/>
              </a:ext>
            </a:extLst>
          </p:cNvPr>
          <p:cNvSpPr>
            <a:spLocks xmlns:a="http://schemas.openxmlformats.org/drawingml/2006/main" noGrp="1"/>
          </p:cNvSpPr>
          <p:nvPr/>
        </p:nvSpPr>
        <p:spPr>
          <a:xfrm xmlns:a="http://schemas.openxmlformats.org/drawingml/2006/main">
            <a:off x="609600" y="5381625"/>
            <a:ext cx="4781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B5472A"/>
                </a:solidFill>
                <a:latin typeface="Apple SD Gothic Neo"/>
                <a:ea typeface="Apple SD Gothic Neo"/>
                <a:cs typeface="Apple SD Gothic Neo"/>
              </a:defRPr>
            </a:pPr>
            <a:r>
              <a:rPr sz="2700" b="1">
                <a:solidFill>
                  <a:srgbClr val="B5472A"/>
                </a:solidFill>
                <a:latin typeface="Apple SD Gothic Neo"/>
                <a:ea typeface="Apple SD Gothic Neo"/>
                <a:cs typeface="Apple SD Gothic Neo"/>
              </a:rPr>
              <a:t>16 / 97명 = 16.5%</a:t>
            </a:r>
          </a:p>
        </p:txBody>
      </p:sp>
      <p:sp>
        <p:nvSpPr>
          <p:cNvPr id="6" name="지원 채널 데이터만으로 이 고객군의&#10;탐색 상태를 파악하기 어렵습니다.">
            <a:extLst xmlns:a="http://schemas.openxmlformats.org/drawingml/2006/main">
              <a:ext uri="{FF2B5EF4-FFF2-40B4-BE49-F238E27FC236}">
                <a16:creationId xmlns:a16="http://schemas.microsoft.com/office/drawing/2014/main" id="{8A00645D-C392-47C9-A351-C7F877EFFB43}"/>
              </a:ext>
            </a:extLst>
          </p:cNvPr>
          <p:cNvSpPr>
            <a:spLocks xmlns:a="http://schemas.openxmlformats.org/drawingml/2006/main" noGrp="1"/>
          </p:cNvSpPr>
          <p:nvPr/>
        </p:nvSpPr>
        <p:spPr>
          <a:xfrm xmlns:a="http://schemas.openxmlformats.org/drawingml/2006/main">
            <a:off x="5781675" y="5400675"/>
            <a:ext cx="58007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지원 채널 데이터만으로 이 고객군의</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탐색 상태를 파악하기 어렵습니다.</a:t>
            </a:r>
          </a:p>
        </p:txBody>
      </p:sp>
    </p:spTree>
    <p:extLst>
      <p:ext uri="{BB962C8B-B14F-4D97-AF65-F5344CB8AC3E}">
        <p14:creationId xmlns:p14="http://schemas.microsoft.com/office/powerpoint/2010/main" val="706239841"/>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검색 상태는 메뉴 도달이나 해지 완료를 대신하지 못합니다">
            <a:extLst xmlns:a="http://schemas.openxmlformats.org/drawingml/2006/main">
              <a:ext uri="{FF2B5EF4-FFF2-40B4-BE49-F238E27FC236}">
                <a16:creationId xmlns:a16="http://schemas.microsoft.com/office/drawing/2014/main" id="{CF9D693B-EA87-44DA-A5D4-BF124608EF8A}"/>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검색 상태는 메뉴 도달이나 해지 완료를 대신하지 못합니다</a:t>
            </a:r>
          </a:p>
        </p:txBody>
      </p:sp>
      <p:sp>
        <p:nvSpPr>
          <p:cNvPr id="2" name="검색 completed 60명에게는 메뉴 도달 기록이 없고, failed 1">
            <a:extLst xmlns:a="http://schemas.openxmlformats.org/drawingml/2006/main">
              <a:ext uri="{FF2B5EF4-FFF2-40B4-BE49-F238E27FC236}">
                <a16:creationId xmlns:a16="http://schemas.microsoft.com/office/drawing/2014/main" id="{A71D2ACA-6D96-476A-9EF7-29CCCD27A054}"/>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검색 completed 60명에게는 메뉴 도달 기록이 없고, failed 120명 중 99명에게는 있습니다.</a:t>
            </a:r>
          </a:p>
        </p:txBody>
      </p:sp>
      <p:sp>
        <p:nvSpPr>
          <p:cNvPr id="3" name="09">
            <a:extLst xmlns:a="http://schemas.openxmlformats.org/drawingml/2006/main">
              <a:ext uri="{FF2B5EF4-FFF2-40B4-BE49-F238E27FC236}">
                <a16:creationId xmlns:a16="http://schemas.microsoft.com/office/drawing/2014/main" id="{85A7E168-3040-4B8A-B7DC-AFA4009BB6F6}"/>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09</a:t>
            </a:r>
          </a:p>
        </p:txBody>
      </p:sp>
      <p:graphicFrame>
        <p:nvGraphicFramePr>
          <p:cNvPr id="12" name="Chart"/>
          <p:cNvGraphicFramePr/>
          <p:nvPr/>
        </p:nvGraphicFramePr>
        <p:xfrm>
          <a:off xmlns:a="http://schemas.openxmlformats.org/drawingml/2006/main" x="571500" y="2076450"/>
          <a:ext xmlns:a="http://schemas.openxmlformats.org/drawingml/2006/main" cx="7153275" cy="3238500"/>
        </p:xfrm>
        <a:graphic xmlns:a="http://schemas.openxmlformats.org/drawingml/2006/main">
          <a:graphicData uri="http://schemas.openxmlformats.org/drawingml/2006/chart">
            <c:chart xmlns:r="http://schemas.openxmlformats.org/officeDocument/2006/relationships" xmlns:c="http://schemas.openxmlformats.org/drawingml/2006/chart" r:id="Rc7611371e1d54bfc"/>
          </a:graphicData>
        </a:graphic>
      </p:graphicFrame>
      <p:sp>
        <p:nvSpPr>
          <p:cNvPr id="5" name="99명 전원">
            <a:extLst xmlns:a="http://schemas.openxmlformats.org/drawingml/2006/main">
              <a:ext uri="{FF2B5EF4-FFF2-40B4-BE49-F238E27FC236}">
                <a16:creationId xmlns:a16="http://schemas.microsoft.com/office/drawing/2014/main" id="{B6E6FC1E-36D8-4080-923B-DCF3114B435F}"/>
              </a:ext>
            </a:extLst>
          </p:cNvPr>
          <p:cNvSpPr>
            <a:spLocks xmlns:a="http://schemas.openxmlformats.org/drawingml/2006/main" noGrp="1"/>
          </p:cNvSpPr>
          <p:nvPr/>
        </p:nvSpPr>
        <p:spPr>
          <a:xfrm xmlns:a="http://schemas.openxmlformats.org/drawingml/2006/main">
            <a:off x="8343900" y="23812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C"/>
                </a:solidFill>
                <a:latin typeface="Apple SD Gothic Neo"/>
                <a:ea typeface="Apple SD Gothic Neo"/>
                <a:cs typeface="Apple SD Gothic Neo"/>
              </a:defRPr>
            </a:pPr>
            <a:r>
              <a:rPr sz="3375" b="1">
                <a:solidFill>
                  <a:srgbClr val="087F8C"/>
                </a:solidFill>
                <a:latin typeface="Apple SD Gothic Neo"/>
                <a:ea typeface="Apple SD Gothic Neo"/>
                <a:cs typeface="Apple SD Gothic Neo"/>
              </a:rPr>
              <a:t>99명 전원</a:t>
            </a:r>
          </a:p>
        </p:txBody>
      </p:sp>
      <p:sp>
        <p:nvSpPr>
          <p:cNvPr id="6" name="첫 검색 이전에&#10;메뉴 도달 기록 확인">
            <a:extLst xmlns:a="http://schemas.openxmlformats.org/drawingml/2006/main">
              <a:ext uri="{FF2B5EF4-FFF2-40B4-BE49-F238E27FC236}">
                <a16:creationId xmlns:a16="http://schemas.microsoft.com/office/drawing/2014/main" id="{703F48FE-820A-4031-867A-263FBBC81AC2}"/>
              </a:ext>
            </a:extLst>
          </p:cNvPr>
          <p:cNvSpPr>
            <a:spLocks xmlns:a="http://schemas.openxmlformats.org/drawingml/2006/main" noGrp="1"/>
          </p:cNvSpPr>
          <p:nvPr/>
        </p:nvSpPr>
        <p:spPr>
          <a:xfrm xmlns:a="http://schemas.openxmlformats.org/drawingml/2006/main">
            <a:off x="8343900" y="3190875"/>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A43"/>
                </a:solidFill>
                <a:latin typeface="Apple SD Gothic Neo"/>
                <a:ea typeface="Apple SD Gothic Neo"/>
                <a:cs typeface="Apple SD Gothic Neo"/>
              </a:defRPr>
            </a:pPr>
            <a:r>
              <a:rPr sz="2250" b="1">
                <a:solidFill>
                  <a:srgbClr val="102A43"/>
                </a:solidFill>
                <a:latin typeface="Apple SD Gothic Neo"/>
                <a:ea typeface="Apple SD Gothic Neo"/>
                <a:cs typeface="Apple SD Gothic Neo"/>
              </a:rPr>
              <a:t>첫 검색 이전에</a:t>
            </a:r>
          </a:p>
          <a:p xmlns:a="http://schemas.openxmlformats.org/drawingml/2006/main">
            <a:pPr algn="l">
              <a:defRPr sz="2250" b="1">
                <a:solidFill>
                  <a:srgbClr val="102A43"/>
                </a:solidFill>
                <a:latin typeface="Apple SD Gothic Neo"/>
                <a:ea typeface="Apple SD Gothic Neo"/>
                <a:cs typeface="Apple SD Gothic Neo"/>
              </a:defRPr>
            </a:pPr>
            <a:r>
              <a:rPr sz="2250" b="1">
                <a:solidFill>
                  <a:srgbClr val="102A43"/>
                </a:solidFill>
                <a:latin typeface="Apple SD Gothic Neo"/>
                <a:ea typeface="Apple SD Gothic Neo"/>
                <a:cs typeface="Apple SD Gothic Neo"/>
              </a:rPr>
              <a:t>메뉴 도달 기록 확인</a:t>
            </a:r>
          </a:p>
        </p:txBody>
      </p:sp>
      <p:sp>
        <p:nvSpPr>
          <p:cNvPr id="7" name="검색이 메뉴 도달을&#10;유발했다는 근거는 없습니다.">
            <a:extLst xmlns:a="http://schemas.openxmlformats.org/drawingml/2006/main">
              <a:ext uri="{FF2B5EF4-FFF2-40B4-BE49-F238E27FC236}">
                <a16:creationId xmlns:a16="http://schemas.microsoft.com/office/drawing/2014/main" id="{E55446F6-DB0B-459C-97F2-F03A271F157F}"/>
              </a:ext>
            </a:extLst>
          </p:cNvPr>
          <p:cNvSpPr>
            <a:spLocks xmlns:a="http://schemas.openxmlformats.org/drawingml/2006/main" noGrp="1"/>
          </p:cNvSpPr>
          <p:nvPr/>
        </p:nvSpPr>
        <p:spPr>
          <a:xfrm xmlns:a="http://schemas.openxmlformats.org/drawingml/2006/main">
            <a:off x="8343900" y="4486275"/>
            <a:ext cx="323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검색이 메뉴 도달을</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유발했다는 근거는 없습니다.</a:t>
            </a:r>
          </a:p>
        </p:txBody>
      </p:sp>
      <p:sp>
        <p:nvSpPr>
          <p:cNvPr id="8" name="검색 상태, 메뉴 도달, 최종 업무 해결은 각각 별도의 관측값입니다.">
            <a:extLst xmlns:a="http://schemas.openxmlformats.org/drawingml/2006/main">
              <a:ext uri="{FF2B5EF4-FFF2-40B4-BE49-F238E27FC236}">
                <a16:creationId xmlns:a16="http://schemas.microsoft.com/office/drawing/2014/main" id="{EC8811CF-37C4-471C-8D4B-B8A0A026621D}"/>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검색 상태, 메뉴 도달, 최종 업무 해결은 각각 별도의 관측값입니다.</a:t>
            </a:r>
          </a:p>
        </p:txBody>
      </p:sp>
    </p:spTree>
    <p:extLst>
      <p:ext uri="{BB962C8B-B14F-4D97-AF65-F5344CB8AC3E}">
        <p14:creationId xmlns:p14="http://schemas.microsoft.com/office/powerpoint/2010/main" val="1322631196"/>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사용자에게 권고할 지표">
            <a:extLst xmlns:a="http://schemas.openxmlformats.org/drawingml/2006/main">
              <a:ext uri="{FF2B5EF4-FFF2-40B4-BE49-F238E27FC236}">
                <a16:creationId xmlns:a16="http://schemas.microsoft.com/office/drawing/2014/main" id="{03C2BB75-A047-41AC-A8CB-F0BA39CB89DD}"/>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사용자에게 권고할 지표</a:t>
            </a:r>
          </a:p>
        </p:txBody>
      </p:sp>
      <p:sp>
        <p:nvSpPr>
          <p:cNvPr id="2" name="확장 지표 2개는 원문의 별도 권고이며, 이번 모델의 자동 추천과 구분됩니다">
            <a:extLst xmlns:a="http://schemas.openxmlformats.org/drawingml/2006/main">
              <a:ext uri="{FF2B5EF4-FFF2-40B4-BE49-F238E27FC236}">
                <a16:creationId xmlns:a16="http://schemas.microsoft.com/office/drawing/2014/main" id="{FDA737D5-6CB6-4006-9809-EBC2AFDB59AA}"/>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확장 지표 2개는 원문의 별도 권고이며, 이번 모델의 자동 추천과 구분됩니다.</a:t>
            </a:r>
          </a:p>
        </p:txBody>
      </p:sp>
      <p:sp>
        <p:nvSpPr>
          <p:cNvPr id="3" name="10">
            <a:extLst xmlns:a="http://schemas.openxmlformats.org/drawingml/2006/main">
              <a:ext uri="{FF2B5EF4-FFF2-40B4-BE49-F238E27FC236}">
                <a16:creationId xmlns:a16="http://schemas.microsoft.com/office/drawing/2014/main" id="{B33F555B-AFFB-43FC-BE71-BCE61CDF338E}"/>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10</a:t>
            </a:r>
          </a:p>
        </p:txBody>
      </p:sp>
      <p:graphicFrame>
        <p:nvGraphicFramePr>
          <p:cNvPr id="9" name=""/>
          <p:cNvGraphicFramePr/>
          <p:nvPr/>
        </p:nvGraphicFramePr>
        <p:xfrm>
          <a:off xmlns:a="http://schemas.openxmlformats.org/drawingml/2006/main" x="609600" y="2000250"/>
          <a:ext xmlns:a="http://schemas.openxmlformats.org/drawingml/2006/main" cx="10972800" cy="3829050"/>
        </p:xfrm>
        <a:graphic xmlns:a="http://schemas.openxmlformats.org/drawingml/2006/main">
          <a:graphicData uri="http://schemas.openxmlformats.org/drawingml/2006/table">
            <a:tbl>
              <a:tblPr firstRow="0" bandRow="0"/>
              <a:tblGrid>
                <a:gridCol w="2266950"/>
                <a:gridCol w="6067425"/>
                <a:gridCol w="2638425"/>
              </a:tblGrid>
              <a:tr h="765810">
                <a:tc>
                  <a:txBody>
                    <a:bodyPr lIns="171450" tIns="95250" rIns="171450" bIns="95250">
                      <a:noAutofit/>
                    </a:bodyPr>
                    <a:lstStyle/>
                    <a:p>
                      <a:r>
                        <a:rPr sz="1650" b="1">
                          <a:solidFill>
                            <a:srgbClr val="FFFFFF"/>
                          </a:solidFill>
                          <a:latin typeface="Apple SD Gothic Neo"/>
                          <a:ea typeface="Apple SD Gothic Neo"/>
                          <a:cs typeface="Apple SD Gothic Neo"/>
                        </a:rPr>
                        <a:t>범위와 우선순위</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권고 지표</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현재 값</a:t>
                      </a:r>
                    </a:p>
                  </a:txBody>
                  <a:tcPr marL="91440" marR="91440" marT="45720" marB="45720" anchor="ctr">
                    <a:solidFill>
                      <a:srgbClr val="102A43"/>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제한, 기본</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부가서비스 조회/해지</a:t>
                      </a:r>
                    </a:p>
                    <a:p>
                      <a:r>
                        <a:rPr sz="1800">
                          <a:solidFill>
                            <a:srgbClr val="102A43"/>
                          </a:solidFill>
                          <a:latin typeface="Apple SD Gothic Neo"/>
                          <a:ea typeface="Apple SD Gothic Neo"/>
                          <a:cs typeface="Apple SD Gothic Neo"/>
                        </a:rPr>
                        <a:t>반복 검색 실패율</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120/180명</a:t>
                      </a:r>
                    </a:p>
                    <a:p>
                      <a:r>
                        <a:rPr sz="1800">
                          <a:solidFill>
                            <a:srgbClr val="102A43"/>
                          </a:solidFill>
                          <a:latin typeface="Apple SD Gothic Neo"/>
                          <a:ea typeface="Apple SD Gothic Neo"/>
                          <a:cs typeface="Apple SD Gothic Neo"/>
                        </a:rPr>
                        <a:t>66.7%</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제한, 보조</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반복 검색 실패 고객의</a:t>
                      </a:r>
                    </a:p>
                    <a:p>
                      <a:r>
                        <a:rPr sz="1800">
                          <a:solidFill>
                            <a:srgbClr val="102A43"/>
                          </a:solidFill>
                          <a:latin typeface="Apple SD Gothic Neo"/>
                          <a:ea typeface="Apple SD Gothic Neo"/>
                          <a:cs typeface="Apple SD Gothic Neo"/>
                        </a:rPr>
                        <a:t>상담 전환율</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61/120명</a:t>
                      </a:r>
                    </a:p>
                    <a:p>
                      <a:r>
                        <a:rPr sz="1800">
                          <a:solidFill>
                            <a:srgbClr val="102A43"/>
                          </a:solidFill>
                          <a:latin typeface="Apple SD Gothic Neo"/>
                          <a:ea typeface="Apple SD Gothic Neo"/>
                          <a:cs typeface="Apple SD Gothic Neo"/>
                        </a:rPr>
                        <a:t>50.8%</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확장, 우선</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활성 부가서비스 탐색 고객의</a:t>
                      </a:r>
                    </a:p>
                    <a:p>
                      <a:r>
                        <a:rPr sz="1800">
                          <a:solidFill>
                            <a:srgbClr val="102A43"/>
                          </a:solidFill>
                          <a:latin typeface="Apple SD Gothic Neo"/>
                          <a:ea typeface="Apple SD Gothic Neo"/>
                          <a:cs typeface="Apple SD Gothic Neo"/>
                        </a:rPr>
                        <a:t>조회/해지 메뉴 도달 미관측률</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97/340명</a:t>
                      </a:r>
                    </a:p>
                    <a:p>
                      <a:r>
                        <a:rPr sz="1800">
                          <a:solidFill>
                            <a:srgbClr val="102A43"/>
                          </a:solidFill>
                          <a:latin typeface="Apple SD Gothic Neo"/>
                          <a:ea typeface="Apple SD Gothic Neo"/>
                          <a:cs typeface="Apple SD Gothic Neo"/>
                        </a:rPr>
                        <a:t>28.53%</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확장, 보조</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메뉴 도달 미관측 고객 중</a:t>
                      </a:r>
                    </a:p>
                    <a:p>
                      <a:r>
                        <a:rPr sz="1800">
                          <a:solidFill>
                            <a:srgbClr val="102A43"/>
                          </a:solidFill>
                          <a:latin typeface="Apple SD Gothic Neo"/>
                          <a:ea typeface="Apple SD Gothic Neo"/>
                          <a:cs typeface="Apple SD Gothic Neo"/>
                        </a:rPr>
                        <a:t>검색과 VOC에도 없는 고객 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16명</a:t>
                      </a:r>
                    </a:p>
                    <a:p>
                      <a:r>
                        <a:rPr sz="1800">
                          <a:solidFill>
                            <a:srgbClr val="102A43"/>
                          </a:solidFill>
                          <a:latin typeface="Apple SD Gothic Neo"/>
                          <a:ea typeface="Apple SD Gothic Neo"/>
                          <a:cs typeface="Apple SD Gothic Neo"/>
                        </a:rPr>
                        <a:t>97명 중 16.5%</a:t>
                      </a:r>
                    </a:p>
                  </a:txBody>
                  <a:tcPr marL="91440" marR="91440" marT="45720" marB="45720" anchor="ctr">
                    <a:solidFill>
                      <a:srgbClr val="FFFFFF"/>
                    </a:solidFill>
                  </a:tcPr>
                </a:tc>
              </a:tr>
            </a:tbl>
          </a:graphicData>
        </a:graphic>
      </p:graphicFrame>
      <p:sp>
        <p:nvSpPr>
          <p:cNvPr id="5" name="상담 전환은 상담 부담을, 메뉴 도달 미관측은 관측 공백을 나타냅니다. 실제">
            <a:extLst xmlns:a="http://schemas.openxmlformats.org/drawingml/2006/main">
              <a:ext uri="{FF2B5EF4-FFF2-40B4-BE49-F238E27FC236}">
                <a16:creationId xmlns:a16="http://schemas.microsoft.com/office/drawing/2014/main" id="{E606E120-D98E-4927-98AE-44E9A8FBB07E}"/>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상담 전환은 상담 부담을, 메뉴 도달 미관측은 관측 공백을 나타냅니다. 실제 해결 여부는 별도 확인이 필요합니다.</a:t>
            </a:r>
          </a:p>
        </p:txBody>
      </p:sp>
    </p:spTree>
    <p:extLst>
      <p:ext uri="{BB962C8B-B14F-4D97-AF65-F5344CB8AC3E}">
        <p14:creationId xmlns:p14="http://schemas.microsoft.com/office/powerpoint/2010/main" val="370737381"/>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자동 추천 품질의 보완 과제">
            <a:extLst xmlns:a="http://schemas.openxmlformats.org/drawingml/2006/main">
              <a:ext uri="{FF2B5EF4-FFF2-40B4-BE49-F238E27FC236}">
                <a16:creationId xmlns:a16="http://schemas.microsoft.com/office/drawing/2014/main" id="{6ADF03E2-CAC8-4632-9E2E-1FB62C848637}"/>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자동 추천 품질의 보완 과제</a:t>
            </a:r>
          </a:p>
        </p:txBody>
      </p:sp>
      <p:sp>
        <p:nvSpPr>
          <p:cNvPr id="2" name="수치 재현과 후보의 이름, 비교군, 원인 설명은 별도로 검증해야 합니다.">
            <a:extLst xmlns:a="http://schemas.openxmlformats.org/drawingml/2006/main">
              <a:ext uri="{FF2B5EF4-FFF2-40B4-BE49-F238E27FC236}">
                <a16:creationId xmlns:a16="http://schemas.microsoft.com/office/drawing/2014/main" id="{D4DA9A15-F93C-4EC3-9615-DCD2973C32AC}"/>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수치 재현과 후보의 이름, 비교군, 원인 설명은 별도로 검증해야 합니다.</a:t>
            </a:r>
          </a:p>
        </p:txBody>
      </p:sp>
      <p:sp>
        <p:nvSpPr>
          <p:cNvPr id="3" name="11">
            <a:extLst xmlns:a="http://schemas.openxmlformats.org/drawingml/2006/main">
              <a:ext uri="{FF2B5EF4-FFF2-40B4-BE49-F238E27FC236}">
                <a16:creationId xmlns:a16="http://schemas.microsoft.com/office/drawing/2014/main" id="{7505ADD1-3F1E-4728-BE3F-D94B7BBBBCCB}"/>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11</a:t>
            </a:r>
          </a:p>
        </p:txBody>
      </p:sp>
      <p:sp>
        <p:nvSpPr>
          <p:cNvPr id="4" name="01">
            <a:extLst xmlns:a="http://schemas.openxmlformats.org/drawingml/2006/main">
              <a:ext uri="{FF2B5EF4-FFF2-40B4-BE49-F238E27FC236}">
                <a16:creationId xmlns:a16="http://schemas.microsoft.com/office/drawing/2014/main" id="{9CD98FAB-D336-48D4-B1C9-FB28FE23CD5F}"/>
              </a:ext>
            </a:extLst>
          </p:cNvPr>
          <p:cNvSpPr>
            <a:spLocks xmlns:a="http://schemas.openxmlformats.org/drawingml/2006/main" noGrp="1"/>
          </p:cNvSpPr>
          <p:nvPr/>
        </p:nvSpPr>
        <p:spPr>
          <a:xfrm xmlns:a="http://schemas.openxmlformats.org/drawingml/2006/main">
            <a:off x="609600" y="2019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01</a:t>
            </a:r>
          </a:p>
        </p:txBody>
      </p:sp>
      <p:sp>
        <p:nvSpPr>
          <p:cNvPr id="5" name="핵심 발견 누락">
            <a:extLst xmlns:a="http://schemas.openxmlformats.org/drawingml/2006/main">
              <a:ext uri="{FF2B5EF4-FFF2-40B4-BE49-F238E27FC236}">
                <a16:creationId xmlns:a16="http://schemas.microsoft.com/office/drawing/2014/main" id="{47DB6E59-BE2E-4495-88A9-E511706BD15D}"/>
              </a:ext>
            </a:extLst>
          </p:cNvPr>
          <p:cNvSpPr>
            <a:spLocks xmlns:a="http://schemas.openxmlformats.org/drawingml/2006/main" noGrp="1"/>
          </p:cNvSpPr>
          <p:nvPr/>
        </p:nvSpPr>
        <p:spPr>
          <a:xfrm xmlns:a="http://schemas.openxmlformats.org/drawingml/2006/main">
            <a:off x="1514475" y="201930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핵심 발견 누락</a:t>
            </a:r>
          </a:p>
        </p:txBody>
      </p:sp>
      <p:sp>
        <p:nvSpPr>
          <p:cNvPr id="6" name="97/340명과 16명을 자동 추천에서 놓쳤습니다.&#10;활성 탐색 모집단에서 미">
            <a:extLst xmlns:a="http://schemas.openxmlformats.org/drawingml/2006/main">
              <a:ext uri="{FF2B5EF4-FFF2-40B4-BE49-F238E27FC236}">
                <a16:creationId xmlns:a16="http://schemas.microsoft.com/office/drawing/2014/main" id="{8D895C9C-103B-4AB0-B15C-D15F54DA49B9}"/>
              </a:ext>
            </a:extLst>
          </p:cNvPr>
          <p:cNvSpPr>
            <a:spLocks xmlns:a="http://schemas.openxmlformats.org/drawingml/2006/main" noGrp="1"/>
          </p:cNvSpPr>
          <p:nvPr/>
        </p:nvSpPr>
        <p:spPr>
          <a:xfrm xmlns:a="http://schemas.openxmlformats.org/drawingml/2006/main">
            <a:off x="4429125" y="201930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97/340명과 16명을 자동 추천에서 놓쳤습니다.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활성 탐색 모집단에서 미도달 고객을 찾는 탐색이 필요합니다.</a:t>
            </a:r>
          </a:p>
        </p:txBody>
      </p:sp>
      <p:sp>
        <p:nvSpPr>
          <p:cNvPr id="7" name="02">
            <a:extLst xmlns:a="http://schemas.openxmlformats.org/drawingml/2006/main">
              <a:ext uri="{FF2B5EF4-FFF2-40B4-BE49-F238E27FC236}">
                <a16:creationId xmlns:a16="http://schemas.microsoft.com/office/drawing/2014/main" id="{7FEB7996-D5E8-42EF-9EBF-7CE234A64406}"/>
              </a:ext>
            </a:extLst>
          </p:cNvPr>
          <p:cNvSpPr>
            <a:spLocks xmlns:a="http://schemas.openxmlformats.org/drawingml/2006/main" noGrp="1"/>
          </p:cNvSpPr>
          <p:nvPr/>
        </p:nvSpPr>
        <p:spPr>
          <a:xfrm xmlns:a="http://schemas.openxmlformats.org/drawingml/2006/main">
            <a:off x="609600" y="29527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02</a:t>
            </a:r>
          </a:p>
        </p:txBody>
      </p:sp>
      <p:sp>
        <p:nvSpPr>
          <p:cNvPr id="8" name="정상 비교군 오류">
            <a:extLst xmlns:a="http://schemas.openxmlformats.org/drawingml/2006/main">
              <a:ext uri="{FF2B5EF4-FFF2-40B4-BE49-F238E27FC236}">
                <a16:creationId xmlns:a16="http://schemas.microsoft.com/office/drawing/2014/main" id="{A67507BE-F923-4D4B-B99B-A7B8C4CC63CB}"/>
              </a:ext>
            </a:extLst>
          </p:cNvPr>
          <p:cNvSpPr>
            <a:spLocks xmlns:a="http://schemas.openxmlformats.org/drawingml/2006/main" noGrp="1"/>
          </p:cNvSpPr>
          <p:nvPr/>
        </p:nvSpPr>
        <p:spPr>
          <a:xfrm xmlns:a="http://schemas.openxmlformats.org/drawingml/2006/main">
            <a:off x="1514475" y="295275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정상 비교군 오류</a:t>
            </a:r>
          </a:p>
        </p:txBody>
      </p:sp>
      <p:sp>
        <p:nvSpPr>
          <p:cNvPr id="9" name="미도달 97명 중 81명은 검색했고, 21명은 해지 상담을 했습니다.&#10;다른 ">
            <a:extLst xmlns:a="http://schemas.openxmlformats.org/drawingml/2006/main">
              <a:ext uri="{FF2B5EF4-FFF2-40B4-BE49-F238E27FC236}">
                <a16:creationId xmlns:a16="http://schemas.microsoft.com/office/drawing/2014/main" id="{7D64285A-80AD-4010-958F-169D364A2F1D}"/>
              </a:ext>
            </a:extLst>
          </p:cNvPr>
          <p:cNvSpPr>
            <a:spLocks xmlns:a="http://schemas.openxmlformats.org/drawingml/2006/main" noGrp="1"/>
          </p:cNvSpPr>
          <p:nvPr/>
        </p:nvSpPr>
        <p:spPr>
          <a:xfrm xmlns:a="http://schemas.openxmlformats.org/drawingml/2006/main">
            <a:off x="4429125" y="295275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미도달 97명 중 81명은 검색했고, 21명은 해지 상담을 했습니다.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다른 목적의 정상 고객이라는 설명을 다시 검증해야 합니다.</a:t>
            </a:r>
          </a:p>
        </p:txBody>
      </p:sp>
      <p:sp>
        <p:nvSpPr>
          <p:cNvPr id="10" name="03">
            <a:extLst xmlns:a="http://schemas.openxmlformats.org/drawingml/2006/main">
              <a:ext uri="{FF2B5EF4-FFF2-40B4-BE49-F238E27FC236}">
                <a16:creationId xmlns:a16="http://schemas.microsoft.com/office/drawing/2014/main" id="{9F0BC2B1-4F93-406B-8920-0130E140BB45}"/>
              </a:ext>
            </a:extLst>
          </p:cNvPr>
          <p:cNvSpPr>
            <a:spLocks xmlns:a="http://schemas.openxmlformats.org/drawingml/2006/main" noGrp="1"/>
          </p:cNvSpPr>
          <p:nvPr/>
        </p:nvSpPr>
        <p:spPr>
          <a:xfrm xmlns:a="http://schemas.openxmlformats.org/drawingml/2006/main">
            <a:off x="609600" y="38862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03</a:t>
            </a:r>
          </a:p>
        </p:txBody>
      </p:sp>
      <p:sp>
        <p:nvSpPr>
          <p:cNvPr id="11" name="CTA 원인 단정">
            <a:extLst xmlns:a="http://schemas.openxmlformats.org/drawingml/2006/main">
              <a:ext uri="{FF2B5EF4-FFF2-40B4-BE49-F238E27FC236}">
                <a16:creationId xmlns:a16="http://schemas.microsoft.com/office/drawing/2014/main" id="{83D4DEA6-0BEE-4E60-99D6-BD70E5C4AD62}"/>
              </a:ext>
            </a:extLst>
          </p:cNvPr>
          <p:cNvSpPr>
            <a:spLocks xmlns:a="http://schemas.openxmlformats.org/drawingml/2006/main" noGrp="1"/>
          </p:cNvSpPr>
          <p:nvPr/>
        </p:nvSpPr>
        <p:spPr>
          <a:xfrm xmlns:a="http://schemas.openxmlformats.org/drawingml/2006/main">
            <a:off x="1514475" y="388620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CTA 원인 단정</a:t>
            </a:r>
          </a:p>
        </p:txBody>
      </p:sp>
      <p:sp>
        <p:nvSpPr>
          <p:cNvPr id="12" name="화면, CTA 노출과 클릭, 실험 근거가 없습니다.&#10;관측 행동과 원인 가설을">
            <a:extLst xmlns:a="http://schemas.openxmlformats.org/drawingml/2006/main">
              <a:ext uri="{FF2B5EF4-FFF2-40B4-BE49-F238E27FC236}">
                <a16:creationId xmlns:a16="http://schemas.microsoft.com/office/drawing/2014/main" id="{73855B5C-F46C-47EE-AD22-3082D61F847D}"/>
              </a:ext>
            </a:extLst>
          </p:cNvPr>
          <p:cNvSpPr>
            <a:spLocks xmlns:a="http://schemas.openxmlformats.org/drawingml/2006/main" noGrp="1"/>
          </p:cNvSpPr>
          <p:nvPr/>
        </p:nvSpPr>
        <p:spPr>
          <a:xfrm xmlns:a="http://schemas.openxmlformats.org/drawingml/2006/main">
            <a:off x="4429125" y="388620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화면, CTA 노출과 클릭, 실험 근거가 없습니다.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관측 행동과 원인 가설을 구분해야 합니다.</a:t>
            </a:r>
          </a:p>
        </p:txBody>
      </p:sp>
      <p:sp>
        <p:nvSpPr>
          <p:cNvPr id="13" name="04">
            <a:extLst xmlns:a="http://schemas.openxmlformats.org/drawingml/2006/main">
              <a:ext uri="{FF2B5EF4-FFF2-40B4-BE49-F238E27FC236}">
                <a16:creationId xmlns:a16="http://schemas.microsoft.com/office/drawing/2014/main" id="{357A9F86-86B8-4C89-B2D8-ADE532AE5605}"/>
              </a:ext>
            </a:extLst>
          </p:cNvPr>
          <p:cNvSpPr>
            <a:spLocks xmlns:a="http://schemas.openxmlformats.org/drawingml/2006/main" noGrp="1"/>
          </p:cNvSpPr>
          <p:nvPr/>
        </p:nvSpPr>
        <p:spPr>
          <a:xfrm xmlns:a="http://schemas.openxmlformats.org/drawingml/2006/main">
            <a:off x="609600" y="48196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04</a:t>
            </a:r>
          </a:p>
        </p:txBody>
      </p:sp>
      <p:sp>
        <p:nvSpPr>
          <p:cNvPr id="14" name="중복 및 정의 불일치">
            <a:extLst xmlns:a="http://schemas.openxmlformats.org/drawingml/2006/main">
              <a:ext uri="{FF2B5EF4-FFF2-40B4-BE49-F238E27FC236}">
                <a16:creationId xmlns:a16="http://schemas.microsoft.com/office/drawing/2014/main" id="{B374C8E0-72CA-4D48-A9AF-C0A86A27A8BD}"/>
              </a:ext>
            </a:extLst>
          </p:cNvPr>
          <p:cNvSpPr>
            <a:spLocks xmlns:a="http://schemas.openxmlformats.org/drawingml/2006/main" noGrp="1"/>
          </p:cNvSpPr>
          <p:nvPr/>
        </p:nvSpPr>
        <p:spPr>
          <a:xfrm xmlns:a="http://schemas.openxmlformats.org/drawingml/2006/main">
            <a:off x="1514475" y="481965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중복 및 정의 불일치</a:t>
            </a:r>
          </a:p>
        </p:txBody>
      </p:sp>
      <p:sp>
        <p:nvSpPr>
          <p:cNvPr id="15" name="제한 후보 2개의 고객 집합이 같습니다. 확장 후보 SQL은&#10;제목의 세션 내">
            <a:extLst xmlns:a="http://schemas.openxmlformats.org/drawingml/2006/main">
              <a:ext uri="{FF2B5EF4-FFF2-40B4-BE49-F238E27FC236}">
                <a16:creationId xmlns:a16="http://schemas.microsoft.com/office/drawing/2014/main" id="{718ED4D3-5A12-4ABB-93BB-39DB5C9E3C62}"/>
              </a:ext>
            </a:extLst>
          </p:cNvPr>
          <p:cNvSpPr>
            <a:spLocks xmlns:a="http://schemas.openxmlformats.org/drawingml/2006/main" noGrp="1"/>
          </p:cNvSpPr>
          <p:nvPr/>
        </p:nvSpPr>
        <p:spPr>
          <a:xfrm xmlns:a="http://schemas.openxmlformats.org/drawingml/2006/main">
            <a:off x="4429125" y="481965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제한 후보 2개의 고객 집합이 같습니다. 확장 후보 SQL은</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제목의 세션 내 순서와 반복 횟수를 직접 고정하지 않습니다.</a:t>
            </a:r>
          </a:p>
        </p:txBody>
      </p:sp>
    </p:spTree>
    <p:extLst>
      <p:ext uri="{BB962C8B-B14F-4D97-AF65-F5344CB8AC3E}">
        <p14:creationId xmlns:p14="http://schemas.microsoft.com/office/powerpoint/2010/main" val="1178576957"/>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사용자에게 전달할 인사이트">
            <a:extLst xmlns:a="http://schemas.openxmlformats.org/drawingml/2006/main">
              <a:ext uri="{FF2B5EF4-FFF2-40B4-BE49-F238E27FC236}">
                <a16:creationId xmlns:a16="http://schemas.microsoft.com/office/drawing/2014/main" id="{6DB19EC9-D450-4C65-A2D5-9C44A717AB91}"/>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사용자에게 전달할 인사이트</a:t>
            </a:r>
          </a:p>
        </p:txBody>
      </p:sp>
      <p:sp>
        <p:nvSpPr>
          <p:cNvPr id="2" name="12">
            <a:extLst xmlns:a="http://schemas.openxmlformats.org/drawingml/2006/main">
              <a:ext uri="{FF2B5EF4-FFF2-40B4-BE49-F238E27FC236}">
                <a16:creationId xmlns:a16="http://schemas.microsoft.com/office/drawing/2014/main" id="{59BFF36B-1798-45C9-A347-DDDEAEB39127}"/>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12</a:t>
            </a:r>
          </a:p>
        </p:txBody>
      </p:sp>
      <p:sp>
        <p:nvSpPr>
          <p:cNvPr id="3" name="관측한 활성 부가서비스 고객 340명 중&#10;97명은 앱 메뉴를 탐색했지만&#10;조회">
            <a:extLst xmlns:a="http://schemas.openxmlformats.org/drawingml/2006/main">
              <a:ext uri="{FF2B5EF4-FFF2-40B4-BE49-F238E27FC236}">
                <a16:creationId xmlns:a16="http://schemas.microsoft.com/office/drawing/2014/main" id="{88253F0E-E014-402F-AB70-FF650548B97E}"/>
              </a:ext>
            </a:extLst>
          </p:cNvPr>
          <p:cNvSpPr>
            <a:spLocks xmlns:a="http://schemas.openxmlformats.org/drawingml/2006/main" noGrp="1"/>
          </p:cNvSpPr>
          <p:nvPr/>
        </p:nvSpPr>
        <p:spPr>
          <a:xfrm xmlns:a="http://schemas.openxmlformats.org/drawingml/2006/main">
            <a:off x="609600" y="1800225"/>
            <a:ext cx="10972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관측한 활성 부가서비스 고객 340명 중</a:t>
            </a:r>
          </a:p>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97명은 앱 메뉴를 탐색했지만</a:t>
            </a:r>
          </a:p>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조회/해지 메뉴 도달 기록이 없습니다.</a:t>
            </a:r>
          </a:p>
        </p:txBody>
      </p:sp>
      <p:sp>
        <p:nvSpPr>
          <p:cNvPr id="4" name="이 중 16명은 검색과 상담에도 나타나지 않아&#10;지원 채널 데이터만으로 탐색 ">
            <a:extLst xmlns:a="http://schemas.openxmlformats.org/drawingml/2006/main">
              <a:ext uri="{FF2B5EF4-FFF2-40B4-BE49-F238E27FC236}">
                <a16:creationId xmlns:a16="http://schemas.microsoft.com/office/drawing/2014/main" id="{1D2C643D-89DF-43FA-A419-BAF02EF307AC}"/>
              </a:ext>
            </a:extLst>
          </p:cNvPr>
          <p:cNvSpPr>
            <a:spLocks xmlns:a="http://schemas.openxmlformats.org/drawingml/2006/main" noGrp="1"/>
          </p:cNvSpPr>
          <p:nvPr/>
        </p:nvSpPr>
        <p:spPr>
          <a:xfrm xmlns:a="http://schemas.openxmlformats.org/drawingml/2006/main">
            <a:off x="609600" y="4257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83E1D0"/>
                </a:solidFill>
                <a:latin typeface="Apple SD Gothic Neo"/>
                <a:ea typeface="Apple SD Gothic Neo"/>
                <a:cs typeface="Apple SD Gothic Neo"/>
              </a:defRPr>
            </a:pPr>
            <a:r>
              <a:rPr sz="2250" b="0">
                <a:solidFill>
                  <a:srgbClr val="83E1D0"/>
                </a:solidFill>
                <a:latin typeface="Apple SD Gothic Neo"/>
                <a:ea typeface="Apple SD Gothic Neo"/>
                <a:cs typeface="Apple SD Gothic Neo"/>
              </a:rPr>
              <a:t>이 중 16명은 검색과 상담에도 나타나지 않아</a:t>
            </a:r>
          </a:p>
          <a:p xmlns:a="http://schemas.openxmlformats.org/drawingml/2006/main">
            <a:pPr algn="l">
              <a:defRPr sz="2250" b="0">
                <a:solidFill>
                  <a:srgbClr val="83E1D0"/>
                </a:solidFill>
                <a:latin typeface="Apple SD Gothic Neo"/>
                <a:ea typeface="Apple SD Gothic Neo"/>
                <a:cs typeface="Apple SD Gothic Neo"/>
              </a:defRPr>
            </a:pPr>
            <a:r>
              <a:rPr sz="2250" b="0">
                <a:solidFill>
                  <a:srgbClr val="83E1D0"/>
                </a:solidFill>
                <a:latin typeface="Apple SD Gothic Neo"/>
                <a:ea typeface="Apple SD Gothic Neo"/>
                <a:cs typeface="Apple SD Gothic Neo"/>
              </a:rPr>
              <a:t>지원 채널 데이터만으로 탐색 상태를 파악하기 어렵습니다.</a:t>
            </a:r>
          </a:p>
        </p:txBody>
      </p:sp>
      <p:sp>
        <p:nvSpPr>
          <p:cNvPr id="5" name="16명의 실제 조회/해지 의도와 최종 업무 해결 여부는 추가 확인이 필요합니">
            <a:extLst xmlns:a="http://schemas.openxmlformats.org/drawingml/2006/main">
              <a:ext uri="{FF2B5EF4-FFF2-40B4-BE49-F238E27FC236}">
                <a16:creationId xmlns:a16="http://schemas.microsoft.com/office/drawing/2014/main" id="{DF9CE139-516E-4B13-B525-87DE5999DAF5}"/>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7D7E3"/>
                </a:solidFill>
                <a:latin typeface="Apple SD Gothic Neo"/>
                <a:ea typeface="Apple SD Gothic Neo"/>
                <a:cs typeface="Apple SD Gothic Neo"/>
              </a:defRPr>
            </a:pPr>
            <a:r>
              <a:rPr sz="1350" b="0">
                <a:solidFill>
                  <a:srgbClr val="C7D7E3"/>
                </a:solidFill>
                <a:latin typeface="Apple SD Gothic Neo"/>
                <a:ea typeface="Apple SD Gothic Neo"/>
                <a:cs typeface="Apple SD Gothic Neo"/>
              </a:rPr>
              <a:t>16명의 실제 조회/해지 의도와 최종 업무 해결 여부는 추가 확인이 필요합니다.</a:t>
            </a:r>
          </a:p>
        </p:txBody>
      </p:sp>
    </p:spTree>
    <p:extLst>
      <p:ext uri="{BB962C8B-B14F-4D97-AF65-F5344CB8AC3E}">
        <p14:creationId xmlns:p14="http://schemas.microsoft.com/office/powerpoint/2010/main" val="1274480695"/>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부록 1. 고객 수와 비율의 분모">
            <a:extLst xmlns:a="http://schemas.openxmlformats.org/drawingml/2006/main">
              <a:ext uri="{FF2B5EF4-FFF2-40B4-BE49-F238E27FC236}">
                <a16:creationId xmlns:a16="http://schemas.microsoft.com/office/drawing/2014/main" id="{43A90344-85C7-4281-BC29-A7C86B32E500}"/>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1. 고객 수와 비율의 분모</a:t>
            </a:r>
          </a:p>
        </p:txBody>
      </p:sp>
      <p:sp>
        <p:nvSpPr>
          <p:cNvPr id="2" name="같은 숫자라도 집합과 분모를 먼저 확인해야 합니다.">
            <a:extLst xmlns:a="http://schemas.openxmlformats.org/drawingml/2006/main">
              <a:ext uri="{FF2B5EF4-FFF2-40B4-BE49-F238E27FC236}">
                <a16:creationId xmlns:a16="http://schemas.microsoft.com/office/drawing/2014/main" id="{DE03F439-05AB-48E8-A91F-EEF247D200B7}"/>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같은 숫자라도 집합과 분모를 먼저 확인해야 합니다.</a:t>
            </a:r>
          </a:p>
        </p:txBody>
      </p:sp>
      <p:sp>
        <p:nvSpPr>
          <p:cNvPr id="3" name="13">
            <a:extLst xmlns:a="http://schemas.openxmlformats.org/drawingml/2006/main">
              <a:ext uri="{FF2B5EF4-FFF2-40B4-BE49-F238E27FC236}">
                <a16:creationId xmlns:a16="http://schemas.microsoft.com/office/drawing/2014/main" id="{3C0995C3-7F46-4558-B38B-B29415FC196E}"/>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13</a:t>
            </a:r>
          </a:p>
        </p:txBody>
      </p:sp>
      <p:graphicFrame>
        <p:nvGraphicFramePr>
          <p:cNvPr id="10" name=""/>
          <p:cNvGraphicFramePr/>
          <p:nvPr/>
        </p:nvGraphicFramePr>
        <p:xfrm>
          <a:off xmlns:a="http://schemas.openxmlformats.org/drawingml/2006/main" x="609600" y="2047875"/>
          <a:ext xmlns:a="http://schemas.openxmlformats.org/drawingml/2006/main" cx="10972800" cy="3038475"/>
        </p:xfrm>
        <a:graphic xmlns:a="http://schemas.openxmlformats.org/drawingml/2006/main">
          <a:graphicData uri="http://schemas.openxmlformats.org/drawingml/2006/table">
            <a:tbl>
              <a:tblPr firstRow="0" bandRow="0"/>
              <a:tblGrid>
                <a:gridCol w="3905250"/>
                <a:gridCol w="3238500"/>
                <a:gridCol w="3829050"/>
              </a:tblGrid>
              <a:tr h="607695">
                <a:tc>
                  <a:txBody>
                    <a:bodyPr lIns="171450" tIns="95250" rIns="171450" bIns="95250">
                      <a:noAutofit/>
                    </a:bodyPr>
                    <a:lstStyle/>
                    <a:p>
                      <a:r>
                        <a:rPr sz="1650" b="1">
                          <a:solidFill>
                            <a:srgbClr val="FFFFFF"/>
                          </a:solidFill>
                          <a:latin typeface="Apple SD Gothic Neo"/>
                          <a:ea typeface="Apple SD Gothic Neo"/>
                          <a:cs typeface="Apple SD Gothic Neo"/>
                        </a:rPr>
                        <a:t>구분</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계산</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해석</a:t>
                      </a:r>
                    </a:p>
                  </a:txBody>
                  <a:tcPr marL="91440" marR="91440" marT="45720" marB="45720" anchor="ctr">
                    <a:solidFill>
                      <a:srgbClr val="102A43"/>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상담 전환율, 제한 보조</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61/120명 = 50.8%</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반복 검색 실패 고객이 분모</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상담 유입률, 확장 자동 추천</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61/180명 = 33.9%</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전체 검색 고객이 분모</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확장 보고 확정 고객</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243 + 61 − 40 = 264명</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메뉴 경유 도달과 상담 고객의 합집합</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지원 채널에 없는 고객 비중</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16/97명 = 16.5%</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메뉴 도달 미관측 고객이 분모</a:t>
                      </a:r>
                    </a:p>
                  </a:txBody>
                  <a:tcPr marL="91440" marR="91440" marT="45720" marB="45720" anchor="ctr">
                    <a:solidFill>
                      <a:srgbClr val="FFFFFF"/>
                    </a:solidFill>
                  </a:tcPr>
                </a:tc>
              </a:tr>
            </a:tbl>
          </a:graphicData>
        </a:graphic>
      </p:graphicFrame>
      <p:sp>
        <p:nvSpPr>
          <p:cNvPr id="5" name="제한 120명과 확장 264명은 서로 다른 패턴의 고객 집합입니다.">
            <a:extLst xmlns:a="http://schemas.openxmlformats.org/drawingml/2006/main">
              <a:ext uri="{FF2B5EF4-FFF2-40B4-BE49-F238E27FC236}">
                <a16:creationId xmlns:a16="http://schemas.microsoft.com/office/drawing/2014/main" id="{55A35663-3143-4343-8E21-34CB9926C72F}"/>
              </a:ext>
            </a:extLst>
          </p:cNvPr>
          <p:cNvSpPr>
            <a:spLocks xmlns:a="http://schemas.openxmlformats.org/drawingml/2006/main" noGrp="1"/>
          </p:cNvSpPr>
          <p:nvPr/>
        </p:nvSpPr>
        <p:spPr>
          <a:xfrm xmlns:a="http://schemas.openxmlformats.org/drawingml/2006/main">
            <a:off x="609600" y="54102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2A43"/>
                </a:solidFill>
                <a:latin typeface="Apple SD Gothic Neo"/>
                <a:ea typeface="Apple SD Gothic Neo"/>
                <a:cs typeface="Apple SD Gothic Neo"/>
              </a:defRPr>
            </a:pPr>
            <a:r>
              <a:rPr sz="2100" b="1">
                <a:solidFill>
                  <a:srgbClr val="102A43"/>
                </a:solidFill>
                <a:latin typeface="Apple SD Gothic Neo"/>
                <a:ea typeface="Apple SD Gothic Neo"/>
                <a:cs typeface="Apple SD Gothic Neo"/>
              </a:rPr>
              <a:t>제한 120명과 확장 264명은 서로 다른 패턴의 고객 집합입니다.</a:t>
            </a:r>
          </a:p>
        </p:txBody>
      </p:sp>
      <p:sp>
        <p:nvSpPr>
          <p:cNvPr id="6" name="검색 180명과 상담 61명은 더하지 않습니다. 확장 미확정 120명도 확정">
            <a:extLst xmlns:a="http://schemas.openxmlformats.org/drawingml/2006/main">
              <a:ext uri="{FF2B5EF4-FFF2-40B4-BE49-F238E27FC236}">
                <a16:creationId xmlns:a16="http://schemas.microsoft.com/office/drawing/2014/main" id="{2FD5E9ED-EB4A-459E-87F5-DC6B00F9B59D}"/>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검색 180명과 상담 61명은 더하지 않습니다. 확장 미확정 120명도 확정 264명과 겹치므로 더하지 않습니다.</a:t>
            </a:r>
          </a:p>
        </p:txBody>
      </p:sp>
    </p:spTree>
    <p:extLst>
      <p:ext uri="{BB962C8B-B14F-4D97-AF65-F5344CB8AC3E}">
        <p14:creationId xmlns:p14="http://schemas.microsoft.com/office/powerpoint/2010/main" val="1214649482"/>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부록 2. 실행 규모와 소요 시간">
            <a:extLst xmlns:a="http://schemas.openxmlformats.org/drawingml/2006/main">
              <a:ext uri="{FF2B5EF4-FFF2-40B4-BE49-F238E27FC236}">
                <a16:creationId xmlns:a16="http://schemas.microsoft.com/office/drawing/2014/main" id="{7C17FDA9-CA3B-4BDF-91F9-29B1BB8BB738}"/>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2. 실행 규모와 소요 시간</a:t>
            </a:r>
          </a:p>
        </p:txBody>
      </p:sp>
      <p:sp>
        <p:nvSpPr>
          <p:cNvPr id="2" name="동일 모델로 성공한 순차 재시도를 비교했습니다.">
            <a:extLst xmlns:a="http://schemas.openxmlformats.org/drawingml/2006/main">
              <a:ext uri="{FF2B5EF4-FFF2-40B4-BE49-F238E27FC236}">
                <a16:creationId xmlns:a16="http://schemas.microsoft.com/office/drawing/2014/main" id="{92E6814F-A789-4D68-B414-00B5FCCAE3B8}"/>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동일 모델로 성공한 순차 재시도를 비교했습니다.</a:t>
            </a:r>
          </a:p>
        </p:txBody>
      </p:sp>
      <p:sp>
        <p:nvSpPr>
          <p:cNvPr id="3" name="14">
            <a:extLst xmlns:a="http://schemas.openxmlformats.org/drawingml/2006/main">
              <a:ext uri="{FF2B5EF4-FFF2-40B4-BE49-F238E27FC236}">
                <a16:creationId xmlns:a16="http://schemas.microsoft.com/office/drawing/2014/main" id="{0BA6F587-7003-4938-A9FE-0A79C1F9061E}"/>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14</a:t>
            </a:r>
          </a:p>
        </p:txBody>
      </p:sp>
      <p:graphicFrame>
        <p:nvGraphicFramePr>
          <p:cNvPr id="9" name=""/>
          <p:cNvGraphicFramePr/>
          <p:nvPr/>
        </p:nvGraphicFramePr>
        <p:xfrm>
          <a:off xmlns:a="http://schemas.openxmlformats.org/drawingml/2006/main" x="609600" y="1914525"/>
          <a:ext xmlns:a="http://schemas.openxmlformats.org/drawingml/2006/main" cx="10972800" cy="3752850"/>
        </p:xfrm>
        <a:graphic xmlns:a="http://schemas.openxmlformats.org/drawingml/2006/main">
          <a:graphicData uri="http://schemas.openxmlformats.org/drawingml/2006/table">
            <a:tbl>
              <a:tblPr firstRow="0" bandRow="0"/>
              <a:tblGrid>
                <a:gridCol w="2781300"/>
                <a:gridCol w="4095750"/>
                <a:gridCol w="4095750"/>
              </a:tblGrid>
              <a:tr h="625475">
                <a:tc>
                  <a:txBody>
                    <a:bodyPr lIns="171450" tIns="95250" rIns="171450" bIns="95250">
                      <a:noAutofit/>
                    </a:bodyPr>
                    <a:lstStyle/>
                    <a:p>
                      <a:r>
                        <a:rPr sz="1650" b="1">
                          <a:solidFill>
                            <a:srgbClr val="FFFFFF"/>
                          </a:solidFill>
                          <a:latin typeface="Apple SD Gothic Neo"/>
                          <a:ea typeface="Apple SD Gothic Neo"/>
                          <a:cs typeface="Apple SD Gothic Neo"/>
                        </a:rPr>
                        <a:t>항목</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제한 분석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확장 분석</a:t>
                      </a:r>
                    </a:p>
                  </a:txBody>
                  <a:tcPr marL="91440" marR="91440" marT="45720" marB="45720" anchor="ctr">
                    <a:solidFill>
                      <a:srgbClr val="102A43"/>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완료 시간</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약 5분 44초</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약 11분 24초</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실제 조회</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945개 이벤트, 2개 Source</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7,996개 이벤트, 4개 Source</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역할 실행 횟수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총괄 1, 조사 3</a:t>
                      </a:r>
                    </a:p>
                    <a:p>
                      <a:r>
                        <a:rPr sz="1800">
                          <a:solidFill>
                            <a:srgbClr val="102A43"/>
                          </a:solidFill>
                          <a:latin typeface="Apple SD Gothic Neo"/>
                          <a:ea typeface="Apple SD Gothic Neo"/>
                          <a:cs typeface="Apple SD Gothic Neo"/>
                        </a:rPr>
                        <a:t>검증 3, 보고 1</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총괄 1, 조사 3</a:t>
                      </a:r>
                    </a:p>
                    <a:p>
                      <a:r>
                        <a:rPr sz="1800">
                          <a:solidFill>
                            <a:srgbClr val="102A43"/>
                          </a:solidFill>
                          <a:latin typeface="Apple SD Gothic Neo"/>
                          <a:ea typeface="Apple SD Gothic Neo"/>
                          <a:cs typeface="Apple SD Gothic Neo"/>
                        </a:rPr>
                        <a:t>검증 4, 보고 1</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SQL 질의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116개</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177개</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추천 API 후보</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3개</a:t>
                      </a:r>
                    </a:p>
                    <a:p>
                      <a:r>
                        <a:rPr sz="1800">
                          <a:solidFill>
                            <a:srgbClr val="102A43"/>
                          </a:solidFill>
                          <a:latin typeface="Apple SD Gothic Neo"/>
                          <a:ea typeface="Apple SD Gothic Neo"/>
                          <a:cs typeface="Apple SD Gothic Neo"/>
                        </a:rPr>
                        <a:t>그중 2개의 고객 집합 동일</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2개</a:t>
                      </a:r>
                    </a:p>
                  </a:txBody>
                  <a:tcPr marL="91440" marR="91440" marT="45720" marB="45720" anchor="ctr">
                    <a:solidFill>
                      <a:srgbClr val="FFFFFF"/>
                    </a:solidFill>
                  </a:tcPr>
                </a:tc>
              </a:tr>
            </a:tbl>
          </a:graphicData>
        </a:graphic>
      </p:graphicFrame>
      <p:sp>
        <p:nvSpPr>
          <p:cNvPr id="5" name="초기 동시 실행 2건은 일부 응답이 10분 이상 대기해 중단했습니다. 코드,">
            <a:extLst xmlns:a="http://schemas.openxmlformats.org/drawingml/2006/main">
              <a:ext uri="{FF2B5EF4-FFF2-40B4-BE49-F238E27FC236}">
                <a16:creationId xmlns:a16="http://schemas.microsoft.com/office/drawing/2014/main" id="{6E693167-7FC7-4715-90F5-531399012D7E}"/>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초기 동시 실행 2건은 일부 응답이 10분 이상 대기해 중단했습니다. 코드, 데이터 시딩, 모델 설정은 비교 중 유지했습니다.</a:t>
            </a:r>
          </a:p>
        </p:txBody>
      </p:sp>
    </p:spTree>
    <p:extLst>
      <p:ext uri="{BB962C8B-B14F-4D97-AF65-F5344CB8AC3E}">
        <p14:creationId xmlns:p14="http://schemas.microsoft.com/office/powerpoint/2010/main" val="2020777206"/>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부록 3. 검증 범위와 재현 근거">
            <a:extLst xmlns:a="http://schemas.openxmlformats.org/drawingml/2006/main">
              <a:ext uri="{FF2B5EF4-FFF2-40B4-BE49-F238E27FC236}">
                <a16:creationId xmlns:a16="http://schemas.microsoft.com/office/drawing/2014/main" id="{9585EDEF-513B-44FE-9C9D-636DE462A7D3}"/>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3. 검증 범위와 재현 근거</a:t>
            </a:r>
          </a:p>
        </p:txBody>
      </p:sp>
      <p:sp>
        <p:nvSpPr>
          <p:cNvPr id="2" name="실행과 측정 검증을 마쳤으며, 서술상의 오류는 별도로 평가했습니다.">
            <a:extLst xmlns:a="http://schemas.openxmlformats.org/drawingml/2006/main">
              <a:ext uri="{FF2B5EF4-FFF2-40B4-BE49-F238E27FC236}">
                <a16:creationId xmlns:a16="http://schemas.microsoft.com/office/drawing/2014/main" id="{5D5D703F-0D85-432B-94A7-1BC5831DBB4A}"/>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실행과 측정 검증을 마쳤으며, 서술상의 오류는 별도로 평가했습니다.</a:t>
            </a:r>
          </a:p>
        </p:txBody>
      </p:sp>
      <p:sp>
        <p:nvSpPr>
          <p:cNvPr id="3" name="15">
            <a:extLst xmlns:a="http://schemas.openxmlformats.org/drawingml/2006/main">
              <a:ext uri="{FF2B5EF4-FFF2-40B4-BE49-F238E27FC236}">
                <a16:creationId xmlns:a16="http://schemas.microsoft.com/office/drawing/2014/main" id="{23658B6D-6845-4E80-B257-58B56AFEE661}"/>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15</a:t>
            </a:r>
          </a:p>
        </p:txBody>
      </p:sp>
      <p:sp>
        <p:nvSpPr>
          <p:cNvPr id="4" name="검증한 항목">
            <a:extLst xmlns:a="http://schemas.openxmlformats.org/drawingml/2006/main">
              <a:ext uri="{FF2B5EF4-FFF2-40B4-BE49-F238E27FC236}">
                <a16:creationId xmlns:a16="http://schemas.microsoft.com/office/drawing/2014/main" id="{4727A641-8EB2-44C0-AF4D-9A4EC615E063}"/>
              </a:ext>
            </a:extLst>
          </p:cNvPr>
          <p:cNvSpPr>
            <a:spLocks xmlns:a="http://schemas.openxmlformats.org/drawingml/2006/main" noGrp="1"/>
          </p:cNvSpPr>
          <p:nvPr/>
        </p:nvSpPr>
        <p:spPr>
          <a:xfrm xmlns:a="http://schemas.openxmlformats.org/drawingml/2006/main">
            <a:off x="609600" y="20097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A43"/>
                </a:solidFill>
                <a:latin typeface="Apple SD Gothic Neo"/>
                <a:ea typeface="Apple SD Gothic Neo"/>
                <a:cs typeface="Apple SD Gothic Neo"/>
              </a:defRPr>
            </a:pPr>
            <a:r>
              <a:rPr sz="2325" b="1">
                <a:solidFill>
                  <a:srgbClr val="102A43"/>
                </a:solidFill>
                <a:latin typeface="Apple SD Gothic Neo"/>
                <a:ea typeface="Apple SD Gothic Neo"/>
                <a:cs typeface="Apple SD Gothic Neo"/>
              </a:rPr>
              <a:t>검증한 항목</a:t>
            </a:r>
          </a:p>
        </p:txBody>
      </p:sp>
      <p:sp>
        <p:nvSpPr>
          <p:cNvPr id="5" name="완료 상태와 요청 동일성&#10;Source 및 기간 제한, 정답 라벨 마스킹&#10;SS">
            <a:extLst xmlns:a="http://schemas.openxmlformats.org/drawingml/2006/main">
              <a:ext uri="{FF2B5EF4-FFF2-40B4-BE49-F238E27FC236}">
                <a16:creationId xmlns:a16="http://schemas.microsoft.com/office/drawing/2014/main" id="{B5C31B22-65C7-4FDC-A07C-E2B04A40E3E6}"/>
              </a:ext>
            </a:extLst>
          </p:cNvPr>
          <p:cNvSpPr>
            <a:spLocks xmlns:a="http://schemas.openxmlformats.org/drawingml/2006/main" noGrp="1"/>
          </p:cNvSpPr>
          <p:nvPr/>
        </p:nvSpPr>
        <p:spPr>
          <a:xfrm xmlns:a="http://schemas.openxmlformats.org/drawingml/2006/main">
            <a:off x="609600" y="2647950"/>
            <a:ext cx="53721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완료 상태와 요청 동일성</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Source 및 기간 제한, 정답 라벨 마스킹</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SSE 완료와 재연결, 다운로드</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추천 SQL의 고객 수</a:t>
            </a:r>
          </a:p>
        </p:txBody>
      </p:sp>
      <p:sp>
        <p:nvSpPr>
          <p:cNvPr id="6" name="해석할 때의 조건">
            <a:extLst xmlns:a="http://schemas.openxmlformats.org/drawingml/2006/main">
              <a:ext uri="{FF2B5EF4-FFF2-40B4-BE49-F238E27FC236}">
                <a16:creationId xmlns:a16="http://schemas.microsoft.com/office/drawing/2014/main" id="{5A87E603-4B11-4246-9ACC-3C7D33316175}"/>
              </a:ext>
            </a:extLst>
          </p:cNvPr>
          <p:cNvSpPr>
            <a:spLocks xmlns:a="http://schemas.openxmlformats.org/drawingml/2006/main" noGrp="1"/>
          </p:cNvSpPr>
          <p:nvPr/>
        </p:nvSpPr>
        <p:spPr>
          <a:xfrm xmlns:a="http://schemas.openxmlformats.org/drawingml/2006/main">
            <a:off x="6524625" y="2009775"/>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A43"/>
                </a:solidFill>
                <a:latin typeface="Apple SD Gothic Neo"/>
                <a:ea typeface="Apple SD Gothic Neo"/>
                <a:cs typeface="Apple SD Gothic Neo"/>
              </a:defRPr>
            </a:pPr>
            <a:r>
              <a:rPr sz="2325" b="1">
                <a:solidFill>
                  <a:srgbClr val="102A43"/>
                </a:solidFill>
                <a:latin typeface="Apple SD Gothic Neo"/>
                <a:ea typeface="Apple SD Gothic Neo"/>
                <a:cs typeface="Apple SD Gothic Neo"/>
              </a:rPr>
              <a:t>해석할 때의 조건</a:t>
            </a:r>
          </a:p>
        </p:txBody>
      </p:sp>
      <p:sp>
        <p:nvSpPr>
          <p:cNvPr id="7" name="기존 등록 시그널 3개의 지식 유지&#10;독립 측정값은 모델 입력에 미전달&#10;권고 ">
            <a:extLst xmlns:a="http://schemas.openxmlformats.org/drawingml/2006/main">
              <a:ext uri="{FF2B5EF4-FFF2-40B4-BE49-F238E27FC236}">
                <a16:creationId xmlns:a16="http://schemas.microsoft.com/office/drawing/2014/main" id="{53626B72-7EDF-4B28-83CB-8DBB7B02DFB0}"/>
              </a:ext>
            </a:extLst>
          </p:cNvPr>
          <p:cNvSpPr>
            <a:spLocks xmlns:a="http://schemas.openxmlformats.org/drawingml/2006/main" noGrp="1"/>
          </p:cNvSpPr>
          <p:nvPr/>
        </p:nvSpPr>
        <p:spPr>
          <a:xfrm xmlns:a="http://schemas.openxmlformats.org/drawingml/2006/main">
            <a:off x="6524625" y="2647950"/>
            <a:ext cx="504825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기존 등록 시그널 3개의 지식 유지</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독립 측정값은 모델 입력에 미전달</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권고 시그널 등록은 미실행</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기존 해커톤 합성 데이터로 실행</a:t>
            </a:r>
          </a:p>
        </p:txBody>
      </p:sp>
      <p:sp>
        <p:nvSpPr>
          <p:cNvPr id="8" name="제한 Run ID">
            <a:extLst xmlns:a="http://schemas.openxmlformats.org/drawingml/2006/main">
              <a:ext uri="{FF2B5EF4-FFF2-40B4-BE49-F238E27FC236}">
                <a16:creationId xmlns:a16="http://schemas.microsoft.com/office/drawing/2014/main" id="{5F4CC7ED-C55B-4B8C-883B-BEECE855F37B}"/>
              </a:ext>
            </a:extLst>
          </p:cNvPr>
          <p:cNvSpPr>
            <a:spLocks xmlns:a="http://schemas.openxmlformats.org/drawingml/2006/main" noGrp="1"/>
          </p:cNvSpPr>
          <p:nvPr/>
        </p:nvSpPr>
        <p:spPr>
          <a:xfrm xmlns:a="http://schemas.openxmlformats.org/drawingml/2006/main">
            <a:off x="609600" y="4810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2677D"/>
                </a:solidFill>
                <a:latin typeface="Apple SD Gothic Neo"/>
                <a:ea typeface="Apple SD Gothic Neo"/>
                <a:cs typeface="Apple SD Gothic Neo"/>
              </a:defRPr>
            </a:pPr>
            <a:r>
              <a:rPr sz="1500" b="1">
                <a:solidFill>
                  <a:srgbClr val="52677D"/>
                </a:solidFill>
                <a:latin typeface="Apple SD Gothic Neo"/>
                <a:ea typeface="Apple SD Gothic Neo"/>
                <a:cs typeface="Apple SD Gothic Neo"/>
              </a:rPr>
              <a:t>제한 Run ID</a:t>
            </a:r>
          </a:p>
        </p:txBody>
      </p:sp>
      <p:sp>
        <p:nvSpPr>
          <p:cNvPr id="9" name="cd9ec858-c7b7-4bcd-8143-d69398fc7111">
            <a:extLst xmlns:a="http://schemas.openxmlformats.org/drawingml/2006/main">
              <a:ext uri="{FF2B5EF4-FFF2-40B4-BE49-F238E27FC236}">
                <a16:creationId xmlns:a16="http://schemas.microsoft.com/office/drawing/2014/main" id="{8DD03381-03A7-40C1-AEF7-1CE800FE915A}"/>
              </a:ext>
            </a:extLst>
          </p:cNvPr>
          <p:cNvSpPr>
            <a:spLocks xmlns:a="http://schemas.openxmlformats.org/drawingml/2006/main" noGrp="1"/>
          </p:cNvSpPr>
          <p:nvPr/>
        </p:nvSpPr>
        <p:spPr>
          <a:xfrm xmlns:a="http://schemas.openxmlformats.org/drawingml/2006/main">
            <a:off x="2438400" y="4810125"/>
            <a:ext cx="891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A43"/>
                </a:solidFill>
                <a:latin typeface="Apple SD Gothic Neo"/>
                <a:ea typeface="Apple SD Gothic Neo"/>
                <a:cs typeface="Apple SD Gothic Neo"/>
              </a:defRPr>
            </a:pPr>
            <a:r>
              <a:rPr sz="1725" b="0">
                <a:solidFill>
                  <a:srgbClr val="102A43"/>
                </a:solidFill>
                <a:latin typeface="Apple SD Gothic Neo"/>
                <a:ea typeface="Apple SD Gothic Neo"/>
                <a:cs typeface="Apple SD Gothic Neo"/>
              </a:rPr>
              <a:t>cd9ec858-c7b7-4bcd-8143-d69398fc7111</a:t>
            </a:r>
          </a:p>
        </p:txBody>
      </p:sp>
      <p:sp>
        <p:nvSpPr>
          <p:cNvPr id="10" name="확장 Run ID">
            <a:extLst xmlns:a="http://schemas.openxmlformats.org/drawingml/2006/main">
              <a:ext uri="{FF2B5EF4-FFF2-40B4-BE49-F238E27FC236}">
                <a16:creationId xmlns:a16="http://schemas.microsoft.com/office/drawing/2014/main" id="{E62DE0DD-27E4-49A8-8495-EE927462E92D}"/>
              </a:ext>
            </a:extLst>
          </p:cNvPr>
          <p:cNvSpPr>
            <a:spLocks xmlns:a="http://schemas.openxmlformats.org/drawingml/2006/main" noGrp="1"/>
          </p:cNvSpPr>
          <p:nvPr/>
        </p:nvSpPr>
        <p:spPr>
          <a:xfrm xmlns:a="http://schemas.openxmlformats.org/drawingml/2006/main">
            <a:off x="609600" y="5276850"/>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2677D"/>
                </a:solidFill>
                <a:latin typeface="Apple SD Gothic Neo"/>
                <a:ea typeface="Apple SD Gothic Neo"/>
                <a:cs typeface="Apple SD Gothic Neo"/>
              </a:defRPr>
            </a:pPr>
            <a:r>
              <a:rPr sz="1500" b="1">
                <a:solidFill>
                  <a:srgbClr val="52677D"/>
                </a:solidFill>
                <a:latin typeface="Apple SD Gothic Neo"/>
                <a:ea typeface="Apple SD Gothic Neo"/>
                <a:cs typeface="Apple SD Gothic Neo"/>
              </a:rPr>
              <a:t>확장 Run ID</a:t>
            </a:r>
          </a:p>
        </p:txBody>
      </p:sp>
      <p:sp>
        <p:nvSpPr>
          <p:cNvPr id="11" name="0eb99d5a-b720-42d5-a46a-add08e0363a6">
            <a:extLst xmlns:a="http://schemas.openxmlformats.org/drawingml/2006/main">
              <a:ext uri="{FF2B5EF4-FFF2-40B4-BE49-F238E27FC236}">
                <a16:creationId xmlns:a16="http://schemas.microsoft.com/office/drawing/2014/main" id="{FE0B7144-FAF7-4273-858E-0B3360F8071C}"/>
              </a:ext>
            </a:extLst>
          </p:cNvPr>
          <p:cNvSpPr>
            <a:spLocks xmlns:a="http://schemas.openxmlformats.org/drawingml/2006/main" noGrp="1"/>
          </p:cNvSpPr>
          <p:nvPr/>
        </p:nvSpPr>
        <p:spPr>
          <a:xfrm xmlns:a="http://schemas.openxmlformats.org/drawingml/2006/main">
            <a:off x="2438400" y="5276850"/>
            <a:ext cx="891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A43"/>
                </a:solidFill>
                <a:latin typeface="Apple SD Gothic Neo"/>
                <a:ea typeface="Apple SD Gothic Neo"/>
                <a:cs typeface="Apple SD Gothic Neo"/>
              </a:defRPr>
            </a:pPr>
            <a:r>
              <a:rPr sz="1725" b="0">
                <a:solidFill>
                  <a:srgbClr val="102A43"/>
                </a:solidFill>
                <a:latin typeface="Apple SD Gothic Neo"/>
                <a:ea typeface="Apple SD Gothic Neo"/>
                <a:cs typeface="Apple SD Gothic Neo"/>
              </a:rPr>
              <a:t>0eb99d5a-b720-42d5-a46a-add08e0363a6</a:t>
            </a:r>
          </a:p>
        </p:txBody>
      </p:sp>
      <p:sp>
        <p:nvSpPr>
          <p:cNvPr id="12" name="근거 파일명과 세부 조건은 발표자 노트에 정리했습니다.">
            <a:extLst xmlns:a="http://schemas.openxmlformats.org/drawingml/2006/main">
              <a:ext uri="{FF2B5EF4-FFF2-40B4-BE49-F238E27FC236}">
                <a16:creationId xmlns:a16="http://schemas.microsoft.com/office/drawing/2014/main" id="{7553D5D3-BA91-4B4D-9A4F-AE65E2588CA1}"/>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근거 파일명과 세부 조건은 발표자 노트에 정리했습니다.</a:t>
            </a:r>
          </a:p>
        </p:txBody>
      </p:sp>
    </p:spTree>
    <p:extLst>
      <p:ext uri="{BB962C8B-B14F-4D97-AF65-F5344CB8AC3E}">
        <p14:creationId xmlns:p14="http://schemas.microsoft.com/office/powerpoint/2010/main" val="568134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2026-09-10T11:25:31.4500000Z</dcterms:created>
  <dcterms:modified xsi:type="dcterms:W3CDTF">2026-09-10T11:25:31.4500000Z</dcterms:modified>
</coreProperties>
</file>