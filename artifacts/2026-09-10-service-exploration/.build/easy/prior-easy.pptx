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cb14ba4dea4796" /><Relationship Type="http://schemas.openxmlformats.org/officeDocument/2006/relationships/extended-properties" Target="/docProps/app.xml" Id="Ra4391864852b46c1" /><Relationship Type="http://schemas.openxmlformats.org/officeDocument/2006/relationships/officeDocument" Target="/ppt/presentation.xml" Id="R3e018c93362b44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28dfa7f7f14691"/>
  </p:sldMasterIdLst>
  <p:notesMasterIdLst>
    <p:notesMasterId xmlns:r="http://schemas.openxmlformats.org/officeDocument/2006/relationships" r:id="R4b71e2b186da4ac2"/>
  </p:notesMasterIdLst>
  <p:sldIdLst>
    <p:sldId xmlns:r="http://schemas.openxmlformats.org/officeDocument/2006/relationships" id="256" r:id="Rd711871e0bb44915"/>
    <p:sldId xmlns:r="http://schemas.openxmlformats.org/officeDocument/2006/relationships" id="257" r:id="R24b1a143bd5d414e"/>
    <p:sldId xmlns:r="http://schemas.openxmlformats.org/officeDocument/2006/relationships" id="258" r:id="Rb96783f91ba5426e"/>
    <p:sldId xmlns:r="http://schemas.openxmlformats.org/officeDocument/2006/relationships" id="259" r:id="R16ad8b5e12b0413f"/>
    <p:sldId xmlns:r="http://schemas.openxmlformats.org/officeDocument/2006/relationships" id="260" r:id="R016f36cfd9804c37"/>
    <p:sldId xmlns:r="http://schemas.openxmlformats.org/officeDocument/2006/relationships" id="261" r:id="Rf7bb0f9571634d03"/>
    <p:sldId xmlns:r="http://schemas.openxmlformats.org/officeDocument/2006/relationships" id="262" r:id="R4f621f5a8d324a58"/>
    <p:sldId xmlns:r="http://schemas.openxmlformats.org/officeDocument/2006/relationships" id="263" r:id="Rb18b10c5fe974172"/>
    <p:sldId xmlns:r="http://schemas.openxmlformats.org/officeDocument/2006/relationships" id="264" r:id="R281d45393d394aff"/>
    <p:sldId xmlns:r="http://schemas.openxmlformats.org/officeDocument/2006/relationships" id="265" r:id="Rf137f89d793b4172"/>
    <p:sldId xmlns:r="http://schemas.openxmlformats.org/officeDocument/2006/relationships" id="266" r:id="R7df4ff67f6fa4b3e"/>
    <p:sldId xmlns:r="http://schemas.openxmlformats.org/officeDocument/2006/relationships" id="267" r:id="R8c613becd9324a2d"/>
    <p:sldId xmlns:r="http://schemas.openxmlformats.org/officeDocument/2006/relationships" id="268" r:id="R4393ae0926144218"/>
    <p:sldId xmlns:r="http://schemas.openxmlformats.org/officeDocument/2006/relationships" id="269" r:id="Rdaba160def264813"/>
    <p:sldId xmlns:r="http://schemas.openxmlformats.org/officeDocument/2006/relationships" id="270" r:id="R79487b854cab45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1accfc7c2d4fab" /><Relationship Type="http://schemas.openxmlformats.org/officeDocument/2006/relationships/slideMaster" Target="/ppt/slideMasters/slideMaster1.xml" Id="R2328dfa7f7f14691" /><Relationship Type="http://schemas.openxmlformats.org/officeDocument/2006/relationships/notesMaster" Target="/ppt/notesMasters/notesMaster1.xml" Id="R4b71e2b186da4ac2" /><Relationship Type="http://schemas.openxmlformats.org/officeDocument/2006/relationships/presProps" Target="/ppt/presProps.xml" Id="R8aa779ae88b24080" /><Relationship Type="http://schemas.openxmlformats.org/officeDocument/2006/relationships/tableStyles" Target="/ppt/tableStyles.xml" Id="R32332fff379842b3" /><Relationship Type="http://schemas.openxmlformats.org/officeDocument/2006/relationships/slide" Target="/ppt/slides/slide1.xml" Id="Rd711871e0bb44915" /><Relationship Type="http://schemas.openxmlformats.org/officeDocument/2006/relationships/slide" Target="/ppt/slides/slide2.xml" Id="R24b1a143bd5d414e" /><Relationship Type="http://schemas.openxmlformats.org/officeDocument/2006/relationships/slide" Target="/ppt/slides/slide3.xml" Id="Rb96783f91ba5426e" /><Relationship Type="http://schemas.openxmlformats.org/officeDocument/2006/relationships/slide" Target="/ppt/slides/slide4.xml" Id="R16ad8b5e12b0413f" /><Relationship Type="http://schemas.openxmlformats.org/officeDocument/2006/relationships/slide" Target="/ppt/slides/slide5.xml" Id="R016f36cfd9804c37" /><Relationship Type="http://schemas.openxmlformats.org/officeDocument/2006/relationships/slide" Target="/ppt/slides/slide6.xml" Id="Rf7bb0f9571634d03" /><Relationship Type="http://schemas.openxmlformats.org/officeDocument/2006/relationships/slide" Target="/ppt/slides/slide7.xml" Id="R4f621f5a8d324a58" /><Relationship Type="http://schemas.openxmlformats.org/officeDocument/2006/relationships/slide" Target="/ppt/slides/slide8.xml" Id="Rb18b10c5fe974172" /><Relationship Type="http://schemas.openxmlformats.org/officeDocument/2006/relationships/slide" Target="/ppt/slides/slide9.xml" Id="R281d45393d394aff" /><Relationship Type="http://schemas.openxmlformats.org/officeDocument/2006/relationships/slide" Target="/ppt/slides/slide10.xml" Id="Rf137f89d793b4172" /><Relationship Type="http://schemas.openxmlformats.org/officeDocument/2006/relationships/slide" Target="/ppt/slides/slide11.xml" Id="R7df4ff67f6fa4b3e" /><Relationship Type="http://schemas.openxmlformats.org/officeDocument/2006/relationships/slide" Target="/ppt/slides/slide12.xml" Id="R8c613becd9324a2d" /><Relationship Type="http://schemas.openxmlformats.org/officeDocument/2006/relationships/slide" Target="/ppt/slides/slide13.xml" Id="R4393ae0926144218" /><Relationship Type="http://schemas.openxmlformats.org/officeDocument/2006/relationships/slide" Target="/ppt/slides/slide14.xml" Id="Rdaba160def264813" /><Relationship Type="http://schemas.openxmlformats.org/officeDocument/2006/relationships/slide" Target="/ppt/slides/slide15.xml" Id="R79487b854cab45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6551484d5c4d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47617160be4570" /><Relationship Type="http://schemas.openxmlformats.org/officeDocument/2006/relationships/notesMaster" Target="/ppt/notesMasters/notesMaster1.xml" Id="R71ce7e8db23a44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1b77c1246f4e38" /><Relationship Type="http://schemas.openxmlformats.org/officeDocument/2006/relationships/notesMaster" Target="/ppt/notesMasters/notesMaster1.xml" Id="Re783c467a13743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ae60f92732483d" /><Relationship Type="http://schemas.openxmlformats.org/officeDocument/2006/relationships/notesMaster" Target="/ppt/notesMasters/notesMaster1.xml" Id="Re5452c9803a74f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ad41f21e0047f9" /><Relationship Type="http://schemas.openxmlformats.org/officeDocument/2006/relationships/notesMaster" Target="/ppt/notesMasters/notesMaster1.xml" Id="R69fe4125416340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6bdd31db58416a" /><Relationship Type="http://schemas.openxmlformats.org/officeDocument/2006/relationships/notesMaster" Target="/ppt/notesMasters/notesMaster1.xml" Id="R40307f81f8084c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69075a1a5d49ed" /><Relationship Type="http://schemas.openxmlformats.org/officeDocument/2006/relationships/notesMaster" Target="/ppt/notesMasters/notesMaster1.xml" Id="R9c542029184147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b8f1c7b41447b8" /><Relationship Type="http://schemas.openxmlformats.org/officeDocument/2006/relationships/notesMaster" Target="/ppt/notesMasters/notesMaster1.xml" Id="Re8dd9628bd2e4e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815e2ec1f54abc" /><Relationship Type="http://schemas.openxmlformats.org/officeDocument/2006/relationships/notesMaster" Target="/ppt/notesMasters/notesMaster1.xml" Id="Rb822ed6b52b347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16554483ae479b" /><Relationship Type="http://schemas.openxmlformats.org/officeDocument/2006/relationships/notesMaster" Target="/ppt/notesMasters/notesMaster1.xml" Id="Rc3d531a62d824b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9d17a3346a4832" /><Relationship Type="http://schemas.openxmlformats.org/officeDocument/2006/relationships/notesMaster" Target="/ppt/notesMasters/notesMaster1.xml" Id="R6d4c38afffd74e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46e509dfe8428f" /><Relationship Type="http://schemas.openxmlformats.org/officeDocument/2006/relationships/notesMaster" Target="/ppt/notesMasters/notesMaster1.xml" Id="R3593985fb3a544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ff365ec26c43eb" /><Relationship Type="http://schemas.openxmlformats.org/officeDocument/2006/relationships/notesMaster" Target="/ppt/notesMasters/notesMaster1.xml" Id="R9234d782d9f4429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143da65dbe7400a" /><Relationship Type="http://schemas.openxmlformats.org/officeDocument/2006/relationships/notesMaster" Target="/ppt/notesMasters/notesMaster1.xml" Id="Raa3736ff6d4e402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f9abec881834c44" /><Relationship Type="http://schemas.openxmlformats.org/officeDocument/2006/relationships/notesMaster" Target="/ppt/notesMasters/notesMaster1.xml" Id="R2f6cdda0397743f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477df250d014856" /><Relationship Type="http://schemas.openxmlformats.org/officeDocument/2006/relationships/notesMaster" Target="/ppt/notesMasters/notesMaster1.xml" Id="R4caf6a81bd7342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같은 질문을 AI에게 두 번 했습니다. 첫 번째는 검색과 상담 기록만 보여줬고, 두 번째는 앱 이용 기록과 가입 기록도 보여줬습니다. 두 분석 모두 끝까지 실행했습니다. 원래 확인하려던 숫자는 다시 세어 보니 맞았지만, AI가 마지막에 고른 내용에는 일부가 빠졌습니다.</a:t>
            </a:r>
          </a:p>
          <a:p xmlns:a="http://schemas.openxmlformats.org/drawingml/2006/main">
            <a:r>
              <a:t>부가서비스는 기본 서비스에 더해서 가입하는 서비스입니다. 이 자료에서 조회/해지 메뉴는 가입한 부가서비스를 확인하거나 그만 쓰는 일을 시작하는 메뉴를 뜻합니다.</a:t>
            </a:r>
          </a:p>
          <a:p xmlns:a="http://schemas.openxmlformats.org/drawingml/2006/main">
            <a:r>
              <a:t>프로그램 버전은 5473bda입니다. 서버와 화면을 다시 시작한 뒤 비교했습니다.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기록을 더 보여주자 AI는 처음에 잘못 짚었던 설명을 고쳤습니다. 상담을 하지 않은 59명을 포기한 고객일 수 있다고 봤지만, 앱 기록에는 59명 모두 메뉴를 열어 본 흔적이 있었습니다. 그래서 이 설명을 뺐습니다.</a:t>
            </a:r>
          </a:p>
          <a:p xmlns:a="http://schemas.openxmlformats.org/drawingml/2006/main">
            <a:r>
              <a:t>한편, 따로 세어 보니 340명 중 97명에게 메뉴를 연 기록이 없었습니다. 비율은 28.5294%입니다. 이 97명 중 16명은 검색과 상담 기록도 없었습니다. 비율은 16.4948%입니다. AI는 이 두 숫자를 중요한 결과로 알려주지 못했습니다.</a:t>
            </a:r>
          </a:p>
          <a:p xmlns:a="http://schemas.openxmlformats.org/drawingml/2006/main">
            <a:r>
              <a:t>이 숫자는 원래 CSV 자료와 프로그램의 계산 기능으로 각각 확인했습니다. 따로 확인한 숫자를 AI에게 미리 알려주지 않았고, 새 분석 기준을 서비스에 등록하지도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질문과 사용한 AI는 같았습니다. AI에게 보여주는 기록의 종류만 달랐습니다. 기대하는 정답이나 더 찾아보라는 힌트는 질문에 넣지 않았습니다.</a:t>
            </a:r>
          </a:p>
          <a:p xmlns:a="http://schemas.openxmlformats.org/drawingml/2006/main">
            <a:r>
              <a:t>기간은 2026년 9월 4일 0시부터 9월 11일 0시 직전까지이며 한국 시간입니다.</a:t>
            </a:r>
          </a:p>
          <a:p xmlns:a="http://schemas.openxmlformats.org/drawingml/2006/main">
            <a:r>
              <a:t>검색 기록과 상담 기록은 원문의 검색 이력, VOC를 뜻합니다. 앱 이용 기록은 앱 행동, 가입 기록은 부가서비스 가입 정보를 뜻합니다. Source는 자료의 종류라는 뜻입니다. 검색 피드백, 요금 청구, 로밍 자료는 이번에 보여주지 않았습니다.</a:t>
            </a:r>
          </a:p>
          <a:p xmlns:a="http://schemas.openxmlformats.org/drawingml/2006/main">
            <a:r>
              <a:t>Bedrock에서 Sonnet 4.6이 자료를 찾았고, Opus 4.6이 전체 진행, 확인, 보고서 작성을 맡았습니다.</a:t>
            </a:r>
          </a:p>
          <a:p xmlns:a="http://schemas.openxmlformats.org/drawingml/2006/main">
            <a:r>
              <a:t>AI에게 전에 알려준 분석 기준 3개는 그대로 뒀습니다. find_signals 기능은 선택한 자료의 종류와 관계없이 이 기준을 돌려줍니다. 그 안에는 앱 행동이나 버튼 부족을 원인으로 보는 설명도 있습니다. 따라서 AI가 아무것도 모르는 상태에서 시작한 비교는 아닙니다.</a:t>
            </a:r>
          </a:p>
          <a:p xmlns:a="http://schemas.openxmlformats.org/drawingml/2006/main">
            <a:r>
              <a:t>정해 둔 자료와 기간만 읽었는지, 정답 표시는 AI에게 숨겼는지 따로 확인했습니다. 질문 원문은 limited-request.json과 expanded-request.json에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부가서비스를 검색한 고객은 180명입니다. 그중 120명은 같은 내용을 여러 번 검색했고 기록에 failed, 즉 실패 표시가 붙었습니다. 120을 180으로 나누면 약 66.7%입니다.</a:t>
            </a:r>
          </a:p>
          <a:p xmlns:a="http://schemas.openxmlformats.org/drawingml/2006/main">
            <a:r>
              <a:t>이 120명 중 61명은 상담도 받았습니다. 61을 120으로 나누면 약 50.8%입니다. 상담은 평균 330초, 즉 5분 30초 걸렸습니다. 상담한 61명은 검색한 180명에 모두 포함되므로 두 숫자를 더하면 안 됩니다.</a:t>
            </a:r>
          </a:p>
          <a:p xmlns:a="http://schemas.openxmlformats.org/drawingml/2006/main">
            <a:r>
              <a:t>AI가 마지막에 고른 내용은 3개였습니다. 그중 2개는 이름은 다르지만 같은 고객 120명을 가리켰습니다. 나머지 하나는 반복 검색 후 상담이 없던 59명이었습니다. 59명은 120명의 49.2%입니다. AI는 아직 해결하지 못했거나 포기할 수 있는 고객으로 설명했지만, 실제로 해결했는지는 알 수 없었습니다.</a:t>
            </a:r>
          </a:p>
          <a:p xmlns:a="http://schemas.openxmlformats.org/drawingml/2006/main">
            <a:r>
              <a:t>가입 기록을 보여주지 않았으므로 가입 중인 고객 전체나 메뉴를 열었는지까지는 이 분석만으로 알 수 없습니다. 근거 파일: limited-proposals.json, limited-report.md.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기록을 더 본 AI가 마지막에 고른 행동은 두 가지입니다. 첫째는 여러 메뉴를 거쳐 조회/해지 메뉴를 열어 본 고객 243명입니다. 340명 중 약 71.5%입니다. 여러 메뉴를 거쳤다는 사실만으로 모두 헤맸다고 말할 수는 없습니다.</a:t>
            </a:r>
          </a:p>
          <a:p xmlns:a="http://schemas.openxmlformats.org/drawingml/2006/main">
            <a:r>
              <a:t>둘째는 부가서비스를 검색한 뒤 상담한 고객 61명입니다. 이번 숫자는 검색한 고객 전체 180명 가운데 센 비율이어서 33.9%입니다. 앞 슬라이드의 50.8%는 반복 검색 실패 120명 가운데 센 비율입니다.</a:t>
            </a:r>
          </a:p>
          <a:p xmlns:a="http://schemas.openxmlformats.org/drawingml/2006/main">
            <a:r>
              <a:t>두 행동에 모두 들어가는 고객은 40명입니다. 243명과 61명을 더한 뒤 겹친 40명을 한 번 빼면 264명입니다. 보고서 맨 위의 확정 고객 수가 이 숫자입니다.</a:t>
            </a:r>
          </a:p>
          <a:p xmlns:a="http://schemas.openxmlformats.org/drawingml/2006/main">
            <a:r>
              <a:t>처음의 120명과 나중의 264명은 서로 다른 기준으로 고른 고객입니다. 문제의 크기가 커졌다고 보면 안 됩니다. 판단을 미룬 다른 120명도 이 264명과 겹치므로 더하면 안 됩니다.</a:t>
            </a:r>
          </a:p>
          <a:p xmlns:a="http://schemas.openxmlformats.org/drawingml/2006/main">
            <a:r>
              <a:t>원래 이름과 설명은 expanded-proposals.json, 보고서는 expanded-report.md에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AI는 처음에 검색을 반복한 뒤 상담하지 않은 59명이 포기했을 수 있다고 설명했습니다. 그러나 앱 기록을 더 보니 모두 조회/해지 메뉴를 열어 봤습니다. 이 때문에 포기했다는 설명을 뺐습니다. 메뉴를 열어 봤다고 해서 실제로 해지를 끝냈다는 뜻은 아닙니다.</a:t>
            </a:r>
          </a:p>
          <a:p xmlns:a="http://schemas.openxmlformats.org/drawingml/2006/main">
            <a:r>
              <a:t>AI는 검색에 failed가 찍힌 120명을 메뉴에 못 간 고객이라고 설명하기도 했습니다. 그러나 99명에게는 메뉴를 열어 본 기록이 있었습니다. 확인을 맡은 AI는 비교 대상으로 고른 고객에 대한 설명도 실제 행동과 다르다고 봤습니다. 그래서 이 판단을 미뤘고, 마지막 추천 답에는 넣지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먼저 가입 상태이고 앱 메뉴를 살펴본 사람만 모았습니다. 그 결과 340명이었습니다. 그중 같은 기간에 부가서비스 조회/해지 메뉴를 연 기록이 없는 사람은 97명이었습니다. 97을 340으로 나누면 28.5294%입니다.</a:t>
            </a:r>
          </a:p>
          <a:p xmlns:a="http://schemas.openxmlformats.org/drawingml/2006/main">
            <a:r>
              <a:t>이 340명은 서비스의 모든 가입자를 뜻하지 않습니다. 모두가 조회나 해지를 하려 했다고 확인된 것도 아닙니다. 이 기간에 가입 중이라는 기록과 앱 메뉴 이용 기록이 함께 있는 사람들만 셌습니다.</a:t>
            </a:r>
          </a:p>
          <a:p xmlns:a="http://schemas.openxmlformats.org/drawingml/2006/main">
            <a:r>
              <a:t>정확한 계산 조건은 가입 기록 action=A와 outcome=Y, 앱 기록 menu_view입니다. 97명은 이 조건에 맞으면서 목표 메뉴를 연 기록이 없는 고객입니다. 프로그램에서는 InvestigationData.load로 자료를 읽은 뒤 measure_definition으로 숫자를 계산했습니다.</a:t>
            </a:r>
          </a:p>
          <a:p xmlns:a="http://schemas.openxmlformats.org/drawingml/2006/main">
            <a:r>
              <a:t>이 결과는 AI의 최종 추천이 아닙니다. 원래 자료와 계산 기능으로 따로 확인했고 AI에게 미리 알려주지 않았습니다. 새 기준을 서비스에 등록하지 않았습니다. 근거: independent-counts.json, recommended-signal.json.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표의 메뉴 기록은 부가서비스 조회/해지 메뉴를 열어 본 기록입니다.</a:t>
            </a:r>
          </a:p>
          <a:p xmlns:a="http://schemas.openxmlformats.org/drawingml/2006/main">
            <a:r>
              <a:t>검색과 상담을 모두 한 61명 중 40명은 메뉴 기록이 있고, 21명은 없습니다. 검색만 한 119명 중 59명은 메뉴 기록이 있고, 60명은 없습니다. 검색과 상담 기록이 모두 없는 160명 중 144명은 메뉴 기록이 있고, 16명은 없습니다.</a:t>
            </a:r>
          </a:p>
          <a:p xmlns:a="http://schemas.openxmlformats.org/drawingml/2006/main">
            <a:r>
              <a:t>합치면 340명 중 243명은 메뉴 기록이 있고 97명은 없습니다. 상담한 고객은 모두 검색도 했기 때문에 상담만 한 사람은 이 자료에 없습니다.</a:t>
            </a:r>
          </a:p>
          <a:p xmlns:a="http://schemas.openxmlformats.org/drawingml/2006/main">
            <a:r>
              <a:t>메뉴 기록이 없는 97명 가운데 검색이나 상담 기록에 나타나는 사람은 81명입니다. 나머지 16명은 두 기록 어디에도 없습니다. 16을 97로 나누면 약 16.5%입니다.</a:t>
            </a:r>
          </a:p>
          <a:p xmlns:a="http://schemas.openxmlformats.org/drawingml/2006/main">
            <a:r>
              <a:t>이 16명이 부가서비스를 확인하거나 해지하려 했는지는 알 수 없습니다. 검색어, 상담, 목표 메뉴 방문 기록이 모두 없기 때문입니다. 이들을 모두 해지 실패 고객으로 부르면 안 됩니다. 근거: channel-navigation-comparison.json.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검색 기록의 completed는 완료, failed는 실패라는 표시입니다. 이 표시는 메뉴를 열었는지나 해지를 끝냈는지와 별개입니다.</a:t>
            </a:r>
          </a:p>
          <a:p xmlns:a="http://schemas.openxmlformats.org/drawingml/2006/main">
            <a:r>
              <a:t>완료 표시가 있는 60명에게는 목표 메뉴를 연 기록이 없었습니다. 실패 표시가 있는 반복 검색 고객 120명 중에는 99명이 메뉴를 열어 본 기록이 있었습니다. 나머지 21명에게는 없었습니다.</a:t>
            </a:r>
          </a:p>
          <a:p xmlns:a="http://schemas.openxmlformats.org/drawingml/2006/main">
            <a:r>
              <a:t>원래 기록의 시간을 확인하니 99명 모두 첫 검색보다 먼저 메뉴를 열어 봤습니다. 따라서 검색 덕분에 메뉴에 갔다고 말할 수 없습니다. 검색 상태, 메뉴 방문, 실제 해결은 따로 확인해야 합니다. 근거: navigation-search-timing.json.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첫 번째 숫자는 같은 내용을 여러 번 검색했고 실패 표시가 있는 고객의 비율입니다. 검색한 180명 중 120명으로 66.7%입니다.</a:t>
            </a:r>
          </a:p>
          <a:p xmlns:a="http://schemas.openxmlformats.org/drawingml/2006/main">
            <a:r>
              <a:t>두 번째는 위 120명 중 상담한 고객의 비율입니다. 61명으로 50.8%입니다. 평균 상담 시간은 330초, 즉 5분 30초입니다.</a:t>
            </a:r>
          </a:p>
          <a:p xmlns:a="http://schemas.openxmlformats.org/drawingml/2006/main">
            <a:r>
              <a:t>세 번째는 가입 중이고 앱을 살펴본 고객 중 조회/해지 메뉴를 연 기록이 없는 비율입니다. 340명 중 97명으로 28.53%입니다.</a:t>
            </a:r>
          </a:p>
          <a:p xmlns:a="http://schemas.openxmlformats.org/drawingml/2006/main">
            <a:r>
              <a:t>네 번째는 이 97명 중 검색과 상담 기록도 없는 사람 수입니다. 16명이며 약 16.5%입니다. 무엇을 하려 했는지는 더 확인해야 합니다.</a:t>
            </a:r>
          </a:p>
          <a:p xmlns:a="http://schemas.openxmlformats.org/drawingml/2006/main">
            <a:r>
              <a:t>아래 두 숫자는 원문 작성자가 따로 계산해 제안한 것입니다. 이번 AI가 마지막에 고른 내용에는 없으며 서비스에 등록하지 않았습니다. 가입 조건은 action=A, outcome=Y이고 앱 이용 조건은 menu_view입니다. 근거: recommended-signal.json, measure_recommended.py.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첫째, AI는 340명에서 출발해 메뉴를 연 기록이 없는 97명과, 그중 검색과 상담 기록도 없는 16명을 중요한 결과로 골라내지 못했습니다.</a:t>
            </a:r>
          </a:p>
          <a:p xmlns:a="http://schemas.openxmlformats.org/drawingml/2006/main">
            <a:r>
              <a:t>둘째, 고객을 나눈 설명이 맞지 않았습니다. 메뉴 기록이 없는 97명 중 81명은 부가서비스를 검색했고 21명은 해지 상담도 했습니다. 이들을 모두 다른 볼일로 온 고객이라고 보기 어렵습니다. 다른 추천에서 문제없는 비교 대상으로 삼은 144명도 같은 반복 메뉴 경로를 거쳤습니다. 메뉴를 연 243명 전원이 헤맸다고 단정할 수 없습니다.</a:t>
            </a:r>
          </a:p>
          <a:p xmlns:a="http://schemas.openxmlformats.org/drawingml/2006/main">
            <a:r>
              <a:t>셋째, 원인을 너무 빨리 단정했습니다. 보고서 제목과 일부 추천 이름은 CTA, 즉 사용자가 누르는 안내 버튼이 없어서 생긴 문제라고 설명했습니다. 하지만 화면, 버튼이 보였는지, 클릭했는지, 비교 실험 결과 같은 근거가 없습니다. 같은 화면 틀에서도 검색 상태가 달랐습니다. 확인한 사실과 추측을 나눠야 합니다.</a:t>
            </a:r>
          </a:p>
          <a:p xmlns:a="http://schemas.openxmlformats.org/drawingml/2006/main">
            <a:r>
              <a:t>넷째, 같은 고객을 다른 이름으로 두 번 고르거나 제목과 계산 조건이 맞지 않았습니다. 검색과 상담만 본 AI의 두 추천은 실제로 같은 120명을 골랐습니다. 기록을 더 본 AI의 계산문인 SQL은 기간 안에 메뉴 기록이 있는지 등을 묶어 봤지만, 제목에 적힌 한 번의 앱 이용 중 방문 순서와 반복 횟수를 직접 조건으로 고정하지 않았습니다. 계속 같은 숫자를 살피려면 이름과 세는 방법을 맞춰야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이번에 살펴본 고객은 가입 중이고 앱 메뉴를 이용한 340명입니다. 그중 97명은 조회/해지 메뉴를 열어 본 기록이 없습니다. 이 97명 중 16명은 검색과 상담 기록도 없습니다. 따라서 검색과 상담만 보면 이 사람들이 어떻게 찾았는지 알아보기 어렵습니다.</a:t>
            </a:r>
          </a:p>
          <a:p xmlns:a="http://schemas.openxmlformats.org/drawingml/2006/main">
            <a:r>
              <a:t>다만 16명이 실제로 확인이나 해지를 하려 했는지, 필요한 일을 끝냈는지는 알 수 없습니다. 더 확인해야 합니다.</a:t>
            </a:r>
          </a:p>
          <a:p xmlns:a="http://schemas.openxmlformats.org/drawingml/2006/main">
            <a:r>
              <a:t>이 설명은 원래 기록을 따로 세어 확인한 결과입니다. 이번 AI가 자동으로 알아낸 최종 답이라고 소개하면 안 됩니다. 기록을 더 보여주자 AI는 잘못된 포기 추정을 고쳤지만, 중요한 고객 수를 찾고 설명하는 일은 더 개선해야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비율을 계산할 때는 누구를 전체로 삼는지 먼저 확인합니다. 상담한 사람은 같은 61명이어도 반복 검색 실패 120명 안에서 세면 약 50.8%, 검색한 전체 180명 안에서 세면 약 33.9%입니다.</a:t>
            </a:r>
          </a:p>
          <a:p xmlns:a="http://schemas.openxmlformats.org/drawingml/2006/main">
            <a:r>
              <a:t>메뉴를 거쳐 도착한 243명과 상담한 61명을 합칠 때는 겹치는 40명을 한 번만 셉니다. 243+61-40=264명입니다.</a:t>
            </a:r>
          </a:p>
          <a:p xmlns:a="http://schemas.openxmlformats.org/drawingml/2006/main">
            <a:r>
              <a:t>메뉴 기록이 없는 97명 안에서 검색과 상담 기록도 없는 16명을 세면 약 16.5%입니다.</a:t>
            </a:r>
          </a:p>
          <a:p xmlns:a="http://schemas.openxmlformats.org/drawingml/2006/main">
            <a:r>
              <a:t>처음 보고서의 120명과 나중 보고서의 264명은 고르는 기준이 다릅니다. 나중 보고서에서 판단을 미룬 120명도 264명과 겹칩니다.</a:t>
            </a:r>
          </a:p>
          <a:p xmlns:a="http://schemas.openxmlformats.org/drawingml/2006/main">
            <a:r>
              <a:t>계산값을 더 자세히 쓰면 59/120=49.1667%, 120/180=66.6667%, 243/340=71.4706%, 61/180=33.8889%, 61/120=50.8333%, 97/340=28.5294%, 16/97=16.4948%입니다.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표는 한 번씩 차례대로 다시 실행해서 끝까지 마친 두 분석을 비교합니다. 검색과 상담만 본 분석은 약 5분 44초, 앱 이용과 가입 기록도 본 분석은 약 11분 24초 걸렸습니다.</a:t>
            </a:r>
          </a:p>
          <a:p xmlns:a="http://schemas.openxmlformats.org/drawingml/2006/main">
            <a:r>
              <a:t>처음에는 두 분석을 동시에 실행했지만 일부 AI 응답이 10분 넘게 오지 않아 기록을 보관하고 중단했습니다. 같은 AI에게 짧게 확인하는 요청은 2~3초 만에 답을 받았습니다. 서버를 다시 시작한 뒤 하나씩 실행한 두 분석은 끝났습니다.</a:t>
            </a:r>
          </a:p>
          <a:p xmlns:a="http://schemas.openxmlformats.org/drawingml/2006/main">
            <a:r>
              <a:t>비교 중 프로그램, 자료를 넣는 방식, AI 설정은 바꾸지 않았습니다. 표의 시간은 이 두 번의 성공한 실행에서 걸린 시간입니다. 언제나 이만큼 걸린다는 뜻은 아닙니다.</a:t>
            </a:r>
          </a:p>
          <a:p xmlns:a="http://schemas.openxmlformats.org/drawingml/2006/main">
            <a:r>
              <a:t>저장된 자료에 물어본 횟수는 SQL 질의 수입니다. 계획, 찾기, 확인, 정리는 원문의 총괄, 조사, 검증, 보고 역할을 쉽게 적은 것입니다.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분석이 끝까지 실행됐는지, 질문이 같은지, 정해 둔 자료 종류와 기간만 봤는지, 정답 표시는 AI에게 숨겼는지 확인했습니다. 결과를 조금씩 받아 보는 기능인 SSE가 끝까지 도착하고 다시 연결되는지, 파일을 내려받을 수 있는지, AI가 만든 계산문으로 고객을 세면 숫자가 맞는지도 확인했습니다. 숫자가 맞는 것과 설명이 맞는 것은 따로 살폈습니다.</a:t>
            </a:r>
          </a:p>
          <a:p xmlns:a="http://schemas.openxmlformats.org/drawingml/2006/main">
            <a:r>
              <a:t>AI에게 전에 알려준 분석 기준 3개는 그대로 뒀습니다. find_signals는 자료 선택과 상관없이 이 기준을 돌려주며, 그 안에는 앱 이용 기록과 CTA 버튼에 대한 원인 설명도 있습니다.</a:t>
            </a:r>
          </a:p>
          <a:p xmlns:a="http://schemas.openxmlformats.org/drawingml/2006/main">
            <a:r>
              <a:t>따로 센 결과는 AI에게 미리 알려주지 않았고, 새로 제안한 분석 기준도 서비스에 등록하지 않았습니다. 실제 고객 자료 대신 기존 해커톤용 가상 고객 기록을 썼습니다.</a:t>
            </a:r>
          </a:p>
          <a:p xmlns:a="http://schemas.openxmlformats.org/drawingml/2006/main">
            <a:r>
              <a:t>원래 질문과 답, 확인 결과가 있는 파일은 다음과 같습니다.</a:t>
            </a:r>
          </a:p>
          <a:p xmlns:a="http://schemas.openxmlformats.org/drawingml/2006/main">
            <a:r>
              <a:t>검색과 상담만 본 실행: limited-request.json, limited-report.md, limited-proposals.json, limited-validation.json.</a:t>
            </a:r>
          </a:p>
          <a:p xmlns:a="http://schemas.openxmlformats.org/drawingml/2006/main">
            <a:r>
              <a:t>앱 이용과 가입 기록도 본 실행: expanded-request.json, expanded-report.md, expanded-proposals.json, expanded-validation.json.</a:t>
            </a:r>
          </a:p>
          <a:p xmlns:a="http://schemas.openxmlformats.org/drawingml/2006/main">
            <a:r>
              <a:t>기록을 따로 센 결과: independent-counts.json, channel-navigation-comparison.json, navigation-search-timing.json.</a:t>
            </a:r>
          </a:p>
          <a:p xmlns:a="http://schemas.openxmlformats.org/drawingml/2006/main">
            <a:r>
              <a:t>새로 제안한 숫자의 기준: recommended-signal.json.</a:t>
            </a:r>
          </a:p>
          <a:p xmlns:a="http://schemas.openxmlformats.org/drawingml/2006/main">
            <a:r>
              <a:t>같은 결과를 다시 확인하는 프로그램: run_comparison.py, validate_run.py, measure_recommended.py.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386f92d31d4d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d0c831960f41c3" /><Relationship Type="http://schemas.openxmlformats.org/officeDocument/2006/relationships/slideLayout" Target="/ppt/slideLayouts/slideLayout1.xml" Id="Ra6907d571d5047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907d571d5047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75b57385248f0" /><Relationship Type="http://schemas.openxmlformats.org/officeDocument/2006/relationships/notesSlide" Target="/ppt/notesSlides/notesSlide1.xml" Id="Rc5875c18ce9b4d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979563d944b11" /><Relationship Type="http://schemas.openxmlformats.org/officeDocument/2006/relationships/notesSlide" Target="/ppt/notesSlides/notesSlide2.xml" Id="R4fe61b5a00f44b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51e23de994abb" /><Relationship Type="http://schemas.openxmlformats.org/officeDocument/2006/relationships/notesSlide" Target="/ppt/notesSlides/notesSlide3.xml" Id="Rc24cc17e543c41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eb09ac6ab41c9" /><Relationship Type="http://schemas.openxmlformats.org/officeDocument/2006/relationships/chart" Target="/ppt/slides/charts/chart1.xml" Id="Rb5f6b97eb3474641" /><Relationship Type="http://schemas.openxmlformats.org/officeDocument/2006/relationships/notesSlide" Target="/ppt/notesSlides/notesSlide4.xml" Id="R66961eb430984a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28479b4804efc" /><Relationship Type="http://schemas.openxmlformats.org/officeDocument/2006/relationships/notesSlide" Target="/ppt/notesSlides/notesSlide5.xml" Id="R0e80bfd6eb844b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930227f664431" /><Relationship Type="http://schemas.openxmlformats.org/officeDocument/2006/relationships/notesSlide" Target="/ppt/notesSlides/notesSlide6.xml" Id="Rc4a92810d5bf4f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34441789c4dad" /><Relationship Type="http://schemas.openxmlformats.org/officeDocument/2006/relationships/chart" Target="/ppt/slides/charts/chart2.xml" Id="R1484b06e0dc54acb" /><Relationship Type="http://schemas.openxmlformats.org/officeDocument/2006/relationships/notesSlide" Target="/ppt/notesSlides/notesSlide7.xml" Id="R9b2965ac052843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b5c7a7a0a425e" /><Relationship Type="http://schemas.openxmlformats.org/officeDocument/2006/relationships/notesSlide" Target="/ppt/notesSlides/notesSlide8.xml" Id="Rbe0b26c234d94e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63346bb2d4a4d" /><Relationship Type="http://schemas.openxmlformats.org/officeDocument/2006/relationships/chart" Target="/ppt/slides/charts/chart3.xml" Id="R56c372bf75ae4410" /><Relationship Type="http://schemas.openxmlformats.org/officeDocument/2006/relationships/notesSlide" Target="/ppt/notesSlides/notesSlide9.xml" Id="Rdaff68fd928243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497b8040f4306" /><Relationship Type="http://schemas.openxmlformats.org/officeDocument/2006/relationships/notesSlide" Target="/ppt/notesSlides/notesSlide10.xml" Id="R36a58f6dfcf749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c7d3ac1714790" /><Relationship Type="http://schemas.openxmlformats.org/officeDocument/2006/relationships/notesSlide" Target="/ppt/notesSlides/notesSlide11.xml" Id="R687ce6847dcc41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712ea8fe447b7" /><Relationship Type="http://schemas.openxmlformats.org/officeDocument/2006/relationships/notesSlide" Target="/ppt/notesSlides/notesSlide12.xml" Id="R07bc2f997ac3462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ea98ad5334536" /><Relationship Type="http://schemas.openxmlformats.org/officeDocument/2006/relationships/notesSlide" Target="/ppt/notesSlides/notesSlide13.xml" Id="Rcc0d84a95bd7405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a8ea80aa9412c" /><Relationship Type="http://schemas.openxmlformats.org/officeDocument/2006/relationships/notesSlide" Target="/ppt/notesSlides/notesSlide14.xml" Id="R5e3bbff3d3b14a5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f875171984a6e" /><Relationship Type="http://schemas.openxmlformats.org/officeDocument/2006/relationships/notesSlide" Target="/ppt/notesSlides/notesSlide15.xml" Id="R05aa5181ce40483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고객 수</c:v>
          </c:tx>
          <c:spPr>
            <a:solidFill xmlns:a="http://schemas.openxmlformats.org/drawingml/2006/main">
              <a:srgbClr val="336EA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087F8C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36EAC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CBE2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그 뒤 상담한 고객</c:v>
                </c:pt>
                <c:pt idx="1">
                  <c:v>반복 검색 ‘실패’</c:v>
                </c:pt>
                <c:pt idx="2">
                  <c:v>검색한 고객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61</c:v>
                </c:pt>
                <c:pt idx="1">
                  <c:v>120</c:v>
                </c:pt>
                <c:pt idx="2">
                  <c:v>180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02A43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D9E1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xmlns:r="http://schemas.openxmlformats.org/officeDocument/2006/relationships" r:id="rIdChartSnapshot1">
    <c:autoUpdate val="0"/>
  </c:externalData>
</c:chartSpace>
</file>

<file path=ppt/slides/charts/chart2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고객 수</c:v>
          </c:tx>
          <c:spPr>
            <a:ln xmlns:a="http://schemas.openxmlformats.org/drawingml/2006/main" w="19050">
              <a:solidFill>
                <a:srgbClr val="102A43"/>
              </a:solidFill>
            </a:ln>
          </c:spPr>
          <c:dPt>
            <c:idx val="0"/>
            <c:spPr>
              <a:solidFill xmlns:a="http://schemas.openxmlformats.org/drawingml/2006/main">
                <a:srgbClr val="34516B"/>
              </a:solidFill>
            </c:spPr>
          </c:dPt>
          <c:dPt>
            <c:idx val="1"/>
            <c:spPr>
              <a:solidFill xmlns:a="http://schemas.openxmlformats.org/drawingml/2006/main">
                <a:srgbClr val="83E1D0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메뉴 기록 있음</c:v>
                </c:pt>
                <c:pt idx="1">
                  <c:v>메뉴 기록 없음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243</c:v>
                </c:pt>
                <c:pt idx="1">
                  <c:v>97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FFFFFF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270"/>
        <c:holeSize val="73"/>
      </c:doughnutChart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xmlns:r="http://schemas.openxmlformats.org/officeDocument/2006/relationships" r:id="rIdChartSnapshot1">
    <c:autoUpdate val="0"/>
  </c:externalData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메뉴 기록 있음</c:v>
          </c:tx>
          <c:spPr>
            <a:solidFill xmlns:a="http://schemas.openxmlformats.org/drawingml/2006/main">
              <a:srgbClr val="087F8C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75" b="1">
                      <a:solidFill>
                        <a:srgbClr val="102A43"/>
                      </a:solidFill>
                      <a:latin typeface="Apple SD Gothic Neo"/>
                      <a:ea typeface="Apple SD Gothic Neo"/>
                      <a:cs typeface="Apple SD Gothic Ne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Data'!$A$2:$A$3</c:f>
              <c:strCache>
                <c:ptCount val="2"/>
                <c:pt idx="0">
                  <c:v>반복 검색 ‘실패’</c:v>
                </c:pt>
                <c:pt idx="1">
                  <c:v>검색 ‘완료’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99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v>메뉴 기록 없음</c:v>
          </c:tx>
          <c:spPr>
            <a:solidFill xmlns:a="http://schemas.openxmlformats.org/drawingml/2006/main">
              <a:srgbClr val="C8D4DF"/>
            </a:solidFill>
          </c:spPr>
          <c:cat>
            <c:strRef>
              <c:f>'Chart Data'!$C$2:$C$3</c:f>
              <c:strCache>
                <c:ptCount val="2"/>
                <c:pt idx="0">
                  <c:v>반복 검색 ‘실패’</c:v>
                </c:pt>
                <c:pt idx="1">
                  <c:v>검색 ‘완료’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21</c:v>
                </c:pt>
                <c:pt idx="1">
                  <c:v>60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02A43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120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D9E1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52677D"/>
              </a:solidFill>
              <a:latin typeface="Apple SD Gothic Neo"/>
              <a:ea typeface="Apple SD Gothic Neo"/>
              <a:cs typeface="Apple SD Gothic Neo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xmlns:r="http://schemas.openxmlformats.org/officeDocument/2006/relationships"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20E04F5A-8E2B-4390-8884-E26066DF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9BDC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9BDCE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2" name="부가서비스 탐색">
            <a:extLst xmlns:a="http://schemas.openxmlformats.org/drawingml/2006/main">
              <a:ext uri="{FF2B5EF4-FFF2-40B4-BE49-F238E27FC236}">
                <a16:creationId xmlns:a16="http://schemas.microsoft.com/office/drawing/2014/main" id="{AED2848B-16CF-4862-B7CA-794AE85D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부가서비스를 찾는 고객들</a:t>
            </a:r>
          </a:p>
        </p:txBody>
      </p:sp>
      <p:sp>
        <p:nvSpPr>
          <p:cNvPr id="3" name="데이터 범위별 실제 실행 비교">
            <a:extLst xmlns:a="http://schemas.openxmlformats.org/drawingml/2006/main">
              <a:ext uri="{FF2B5EF4-FFF2-40B4-BE49-F238E27FC236}">
                <a16:creationId xmlns:a16="http://schemas.microsoft.com/office/drawing/2014/main" id="{3106AF1E-DB9A-4CF0-B431-2470BA68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AI에게 더 많은 기록을 보여준 결과</a:t>
            </a:r>
          </a:p>
        </p:txBody>
      </p:sp>
      <p:sp>
        <p:nvSpPr>
          <p:cNvPr id="4" name="검색과 상담에 앱 행동, 가입 정보를 더했을 때의 변화">
            <a:extLst xmlns:a="http://schemas.openxmlformats.org/drawingml/2006/main">
              <a:ext uri="{FF2B5EF4-FFF2-40B4-BE49-F238E27FC236}">
                <a16:creationId xmlns:a16="http://schemas.microsoft.com/office/drawing/2014/main" id="{FFF1857C-99EC-4442-B2F8-8178FE00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623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C7D7E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C7D7E3"/>
                </a:solidFill>
                <a:latin typeface="Apple SD Gothic Neo"/>
                <a:ea typeface="Apple SD Gothic Neo"/>
                <a:cs typeface="Apple SD Gothic Neo"/>
              </a:rPr>
              <a:t>검색과 상담만 본 AI와 앱 이용, 가입 정보까지 본 AI의 비교</a:t>
            </a:r>
          </a:p>
        </p:txBody>
      </p:sp>
      <p:sp>
        <p:nvSpPr>
          <p:cNvPr id="5" name="2026.09.10">
            <a:extLst xmlns:a="http://schemas.openxmlformats.org/drawingml/2006/main">
              <a:ext uri="{FF2B5EF4-FFF2-40B4-BE49-F238E27FC236}">
                <a16:creationId xmlns:a16="http://schemas.microsoft.com/office/drawing/2014/main" id="{CA7FBF9B-DEBB-4672-A782-A3E5070D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387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83E1D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83E1D0"/>
                </a:solidFill>
                <a:latin typeface="Apple SD Gothic Neo"/>
                <a:ea typeface="Apple SD Gothic Neo"/>
                <a:cs typeface="Apple SD Gothic Neo"/>
              </a:rPr>
              <a:t>2026.09.10</a:t>
            </a:r>
          </a:p>
        </p:txBody>
      </p:sp>
      <p:sp>
        <p:nvSpPr>
          <p:cNvPr id="6" name="실행 형상 5473bda">
            <a:extLst xmlns:a="http://schemas.openxmlformats.org/drawingml/2006/main">
              <a:ext uri="{FF2B5EF4-FFF2-40B4-BE49-F238E27FC236}">
                <a16:creationId xmlns:a16="http://schemas.microsoft.com/office/drawing/2014/main" id="{C050F0B8-3BFB-40E5-A480-3597EC72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3882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9BDC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9BDCE"/>
                </a:solidFill>
                <a:latin typeface="Apple SD Gothic Neo"/>
                <a:ea typeface="Apple SD Gothic Neo"/>
                <a:cs typeface="Apple SD Gothic Neo"/>
              </a:rPr>
              <a:t>사용한 프로그램 버전 5473bda</a:t>
            </a:r>
          </a:p>
        </p:txBody>
      </p:sp>
    </p:spTree>
    <p:extLst>
      <p:ext uri="{BB962C8B-B14F-4D97-AF65-F5344CB8AC3E}">
        <p14:creationId xmlns:p14="http://schemas.microsoft.com/office/powerpoint/2010/main" val="8341097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확장 분석은 오해를 줄였지만 핵심 지표를 놓쳤습니다">
            <a:extLst xmlns:a="http://schemas.openxmlformats.org/drawingml/2006/main">
              <a:ext uri="{FF2B5EF4-FFF2-40B4-BE49-F238E27FC236}">
                <a16:creationId xmlns:a16="http://schemas.microsoft.com/office/drawing/2014/main" id="{1CDFA974-7A78-4909-A75B-6FFDB17B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AI는 잘못 짚은 부분을 고쳤지만, 중요한 숫자를 놓쳤습니다</a:t>
            </a:r>
          </a:p>
        </p:txBody>
      </p:sp>
      <p:sp>
        <p:nvSpPr>
          <p:cNvPr id="2" name="두 실행은 완료했습니다. 자동 추천 결과와 독립 측정 결과를 구분해 읽어야 ">
            <a:extLst xmlns:a="http://schemas.openxmlformats.org/drawingml/2006/main">
              <a:ext uri="{FF2B5EF4-FFF2-40B4-BE49-F238E27FC236}">
                <a16:creationId xmlns:a16="http://schemas.microsoft.com/office/drawing/2014/main" id="{0C2A02A8-1528-4C13-87C7-CBEBCF76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AI가 낸 답과 원래 기록을 다시 세어 확인한 답은 달랐습니다.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EC205CBD-AD1C-4F58-ABCF-E5FD4A51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" name="59명">
            <a:extLst xmlns:a="http://schemas.openxmlformats.org/drawingml/2006/main">
              <a:ext uri="{FF2B5EF4-FFF2-40B4-BE49-F238E27FC236}">
                <a16:creationId xmlns:a16="http://schemas.microsoft.com/office/drawing/2014/main" id="{6076BC2F-E73B-4DAF-A4F8-053C3460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2385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700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59명</a:t>
            </a:r>
          </a:p>
        </p:txBody>
      </p:sp>
      <p:sp>
        <p:nvSpPr>
          <p:cNvPr id="5" name="잘못된 이탈 추정 기각">
            <a:extLst xmlns:a="http://schemas.openxmlformats.org/drawingml/2006/main">
              <a:ext uri="{FF2B5EF4-FFF2-40B4-BE49-F238E27FC236}">
                <a16:creationId xmlns:a16="http://schemas.microsoft.com/office/drawing/2014/main" id="{773BFCDE-70B8-4E1E-8E48-DFFF3AA3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포기했다는 판단 취소</a:t>
            </a:r>
          </a:p>
        </p:txBody>
      </p:sp>
      <p:sp>
        <p:nvSpPr>
          <p:cNvPr id="6" name="상담이 없던 59명 모두&#10;목표 메뉴 도달 기록 확인">
            <a:extLst xmlns:a="http://schemas.openxmlformats.org/drawingml/2006/main">
              <a:ext uri="{FF2B5EF4-FFF2-40B4-BE49-F238E27FC236}">
                <a16:creationId xmlns:a16="http://schemas.microsoft.com/office/drawing/2014/main" id="{EB1E8477-F15D-4610-8085-2EB256C9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181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상담이 없던 59명 모두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메뉴를 연 기록이 있었습니다.</a:t>
            </a:r>
          </a:p>
        </p:txBody>
      </p:sp>
      <p:sp>
        <p:nvSpPr>
          <p:cNvPr id="7" name="28.5%">
            <a:extLst xmlns:a="http://schemas.openxmlformats.org/drawingml/2006/main">
              <a:ext uri="{FF2B5EF4-FFF2-40B4-BE49-F238E27FC236}">
                <a16:creationId xmlns:a16="http://schemas.microsoft.com/office/drawing/2014/main" id="{9CAAF92E-D176-4E02-A9A7-DC8B20ED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38375"/>
            <a:ext cx="32385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70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28.5%</a:t>
            </a:r>
          </a:p>
        </p:txBody>
      </p:sp>
      <p:sp>
        <p:nvSpPr>
          <p:cNvPr id="8" name="메뉴 도달 미관측률">
            <a:extLst xmlns:a="http://schemas.openxmlformats.org/drawingml/2006/main">
              <a:ext uri="{FF2B5EF4-FFF2-40B4-BE49-F238E27FC236}">
                <a16:creationId xmlns:a16="http://schemas.microsoft.com/office/drawing/2014/main" id="{A460AC66-B2BC-4675-A865-9F010760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2422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메뉴 기록이 없는 비율</a:t>
            </a:r>
          </a:p>
        </p:txBody>
      </p:sp>
      <p:sp>
        <p:nvSpPr>
          <p:cNvPr id="9" name="독립 측정으로 97/340명 확인&#10;모델의 최종 자동 추천에서 누락">
            <a:extLst xmlns:a="http://schemas.openxmlformats.org/drawingml/2006/main">
              <a:ext uri="{FF2B5EF4-FFF2-40B4-BE49-F238E27FC236}">
                <a16:creationId xmlns:a16="http://schemas.microsoft.com/office/drawing/2014/main" id="{3D5DC84C-9CEE-4D11-95ED-FFBF6882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05250"/>
            <a:ext cx="3257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340명 중 97명입니다.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AI가 놓친 숫자입니다.</a:t>
            </a:r>
          </a:p>
        </p:txBody>
      </p:sp>
      <p:sp>
        <p:nvSpPr>
          <p:cNvPr id="10" name="16명">
            <a:extLst xmlns:a="http://schemas.openxmlformats.org/drawingml/2006/main">
              <a:ext uri="{FF2B5EF4-FFF2-40B4-BE49-F238E27FC236}">
                <a16:creationId xmlns:a16="http://schemas.microsoft.com/office/drawing/2014/main" id="{313254C4-794F-497C-A626-E25E9550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38375"/>
            <a:ext cx="33813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B54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700" b="1">
                <a:solidFill>
                  <a:srgbClr val="B5472A"/>
                </a:solidFill>
                <a:latin typeface="Apple SD Gothic Neo"/>
                <a:ea typeface="Apple SD Gothic Neo"/>
                <a:cs typeface="Apple SD Gothic Neo"/>
              </a:rPr>
              <a:t>16명</a:t>
            </a:r>
          </a:p>
        </p:txBody>
      </p:sp>
      <p:sp>
        <p:nvSpPr>
          <p:cNvPr id="11" name="검색과 상담에도 미관측">
            <a:extLst xmlns:a="http://schemas.openxmlformats.org/drawingml/2006/main">
              <a:ext uri="{FF2B5EF4-FFF2-40B4-BE49-F238E27FC236}">
                <a16:creationId xmlns:a16="http://schemas.microsoft.com/office/drawing/2014/main" id="{BCC56006-4EEB-4AF0-BBEB-AE0A0FAD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24225"/>
            <a:ext cx="338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검색과 상담 기록도 없음</a:t>
            </a:r>
          </a:p>
        </p:txBody>
      </p:sp>
      <p:sp>
        <p:nvSpPr>
          <p:cNvPr id="12" name="메뉴 도달 미관측 97명 중 16명&#10;실제 조회/해지 의도는 미확인">
            <a:extLst xmlns:a="http://schemas.openxmlformats.org/drawingml/2006/main">
              <a:ext uri="{FF2B5EF4-FFF2-40B4-BE49-F238E27FC236}">
                <a16:creationId xmlns:a16="http://schemas.microsoft.com/office/drawing/2014/main" id="{E2AE32FE-A037-4B00-82BB-FF6C4CA8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05250"/>
            <a:ext cx="3381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97명 중 16명입니다.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무엇을 하려 했는지는 모릅니다.</a:t>
            </a:r>
          </a:p>
        </p:txBody>
      </p:sp>
      <p:sp>
        <p:nvSpPr>
          <p:cNvPr id="13" name="기존 해커톤 합성 데이터에서 확인한 결과입니다. 실제 해지 완료나 업무 해결">
            <a:extLst xmlns:a="http://schemas.openxmlformats.org/drawingml/2006/main">
              <a:ext uri="{FF2B5EF4-FFF2-40B4-BE49-F238E27FC236}">
                <a16:creationId xmlns:a16="http://schemas.microsoft.com/office/drawing/2014/main" id="{AFF37030-3CC4-4843-A0BA-19823FBC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해커톤용 가상 고객 기록으로 확인했습니다. 메뉴를 열어 봤다고 해서 실제 해지나 문제 해결까지 끝냈다는 뜻은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04783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비교 조건">
            <a:extLst xmlns:a="http://schemas.openxmlformats.org/drawingml/2006/main">
              <a:ext uri="{FF2B5EF4-FFF2-40B4-BE49-F238E27FC236}">
                <a16:creationId xmlns:a16="http://schemas.microsoft.com/office/drawing/2014/main" id="{1F086904-748E-49A3-B9EC-ECD44BD0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어떤 기록을 보여줬나요?</a:t>
            </a:r>
          </a:p>
        </p:txBody>
      </p:sp>
      <p:sp>
        <p:nvSpPr>
          <p:cNvPr id="2" name="질문과 모델은 같고, 직접 조회할 수 있는 데이터 범위를 달리했습니다.">
            <a:extLst xmlns:a="http://schemas.openxmlformats.org/drawingml/2006/main">
              <a:ext uri="{FF2B5EF4-FFF2-40B4-BE49-F238E27FC236}">
                <a16:creationId xmlns:a16="http://schemas.microsoft.com/office/drawing/2014/main" id="{AABCB392-05F4-4797-AD40-FBA39390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같은 AI에게 같은 질문을 했습니다. 보여주는 기록만 늘렸습니다.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31001251-FFA2-4CDA-8BBA-24633A96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5909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33600"/>
                <a:gridCol w="4324350"/>
                <a:gridCol w="4514850"/>
              </a:tblGrid>
              <a:tr h="71818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비교 항목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검색과 상담만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앱 이용, 가입 기록도 추가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71818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보여준 기록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 기록, 상담 기록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 기록, 상담 기록</a:t>
                      </a:r>
                    </a:p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앱 이용 기록, 부가서비스 가입 기록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818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살펴본 기간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9월 4일 0시부터</a:t>
                      </a:r>
                    </a:p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9월 11일 0시 직전까지, 한국 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기간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818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사용한 AI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Bedrock에서 실행</a:t>
                      </a:r>
                    </a:p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찾기: Sonnet 4.6</a:t>
                      </a:r>
                    </a:p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계획, 확인, 정리: Opus 4.6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AI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818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AI가 읽은 기록 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기록 945개</a:t>
                      </a:r>
                    </a:p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자료 종류 2개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기록 7,996개</a:t>
                      </a:r>
                    </a:p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자료 종류 4개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이벤트 수는 다른 주제를 포함한 기간 전체입니다. 부가서비스 관련 행은 모델">
            <a:extLst xmlns:a="http://schemas.openxmlformats.org/drawingml/2006/main">
              <a:ext uri="{FF2B5EF4-FFF2-40B4-BE49-F238E27FC236}">
                <a16:creationId xmlns:a16="http://schemas.microsoft.com/office/drawing/2014/main" id="{28411976-B313-41DD-8282-9F03A3D0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기록 수에는 다른 주제도 들어 있습니다. AI가 그중 부가서비스와 관련된 내용을 직접 골랐습니다.</a:t>
            </a:r>
          </a:p>
        </p:txBody>
      </p:sp>
    </p:spTree>
    <p:extLst>
      <p:ext uri="{BB962C8B-B14F-4D97-AF65-F5344CB8AC3E}">
        <p14:creationId xmlns:p14="http://schemas.microsoft.com/office/powerpoint/2010/main" val="5066087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제한 분석은 반복 검색 실패와 상담 부담을 포착했습니다">
            <a:extLst xmlns:a="http://schemas.openxmlformats.org/drawingml/2006/main">
              <a:ext uri="{FF2B5EF4-FFF2-40B4-BE49-F238E27FC236}">
                <a16:creationId xmlns:a16="http://schemas.microsoft.com/office/drawing/2014/main" id="{35E1D5E2-A452-4D11-9C29-401571BF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검색을 여러 번 시도한 고객과 상담한 고객을 찾았습니다</a:t>
            </a:r>
          </a:p>
        </p:txBody>
      </p:sp>
      <p:sp>
        <p:nvSpPr>
          <p:cNvPr id="2" name="검색 이력과 VOC만 제공한 실행 결과">
            <a:extLst xmlns:a="http://schemas.openxmlformats.org/drawingml/2006/main">
              <a:ext uri="{FF2B5EF4-FFF2-40B4-BE49-F238E27FC236}">
                <a16:creationId xmlns:a16="http://schemas.microsoft.com/office/drawing/2014/main" id="{10D35580-B54F-40EA-9A86-46819593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검색과 상담 기록만 본 AI의 답입니다. ‘실패’는 검색 기록에 붙은 표시입니다.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F8525E6D-D591-4E6C-8A31-DF77AA38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71500" y="2009775"/>
          <a:ext xmlns:a="http://schemas.openxmlformats.org/drawingml/2006/main" cx="689610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f6b97eb3474641"/>
          </a:graphicData>
        </a:graphic>
      </p:graphicFrame>
      <p:sp>
        <p:nvSpPr>
          <p:cNvPr id="5" name="66.7%">
            <a:extLst xmlns:a="http://schemas.openxmlformats.org/drawingml/2006/main">
              <a:ext uri="{FF2B5EF4-FFF2-40B4-BE49-F238E27FC236}">
                <a16:creationId xmlns:a16="http://schemas.microsoft.com/office/drawing/2014/main" id="{4E868CE3-0E57-4DA2-BA99-254C070F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47875"/>
            <a:ext cx="3333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336EA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336EAC"/>
                </a:solidFill>
                <a:latin typeface="Apple SD Gothic Neo"/>
                <a:ea typeface="Apple SD Gothic Neo"/>
                <a:cs typeface="Apple SD Gothic Neo"/>
              </a:rPr>
              <a:t>66.7%</a:t>
            </a:r>
          </a:p>
        </p:txBody>
      </p:sp>
      <p:sp>
        <p:nvSpPr>
          <p:cNvPr id="6" name="반복 검색 실패 120/180명">
            <a:extLst xmlns:a="http://schemas.openxmlformats.org/drawingml/2006/main">
              <a:ext uri="{FF2B5EF4-FFF2-40B4-BE49-F238E27FC236}">
                <a16:creationId xmlns:a16="http://schemas.microsoft.com/office/drawing/2014/main" id="{0CD7C834-AD81-4C7D-AFD8-02DE280F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000375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검색한 180명 중 120명에게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반복 검색 ‘실패’ 표시가 있습니다.</a:t>
            </a:r>
          </a:p>
        </p:txBody>
      </p:sp>
      <p:sp>
        <p:nvSpPr>
          <p:cNvPr id="7" name="50.8%">
            <a:extLst xmlns:a="http://schemas.openxmlformats.org/drawingml/2006/main">
              <a:ext uri="{FF2B5EF4-FFF2-40B4-BE49-F238E27FC236}">
                <a16:creationId xmlns:a16="http://schemas.microsoft.com/office/drawing/2014/main" id="{CCD9A844-DC7C-4814-AA18-FB971688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838575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50.8%</a:t>
            </a:r>
          </a:p>
        </p:txBody>
      </p:sp>
      <p:sp>
        <p:nvSpPr>
          <p:cNvPr id="8" name="실패 고객의 상담 전환 61/120명&#10;평균 상담 시간 330초">
            <a:extLst xmlns:a="http://schemas.openxmlformats.org/drawingml/2006/main">
              <a:ext uri="{FF2B5EF4-FFF2-40B4-BE49-F238E27FC236}">
                <a16:creationId xmlns:a16="http://schemas.microsoft.com/office/drawing/2014/main" id="{4E30B1B6-4754-4E99-A1CF-3FDBACC1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68630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이 120명 중 61명이 상담했습니다.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상담은 평균 5분 30초 걸렸습니다.</a:t>
            </a:r>
          </a:p>
        </p:txBody>
      </p:sp>
      <p:sp>
        <p:nvSpPr>
          <p:cNvPr id="9" name="상담 61명은 검색 고객 180명에 모두 포함됩니다. 가입자 모집단과 메뉴 ">
            <a:extLst xmlns:a="http://schemas.openxmlformats.org/drawingml/2006/main">
              <a:ext uri="{FF2B5EF4-FFF2-40B4-BE49-F238E27FC236}">
                <a16:creationId xmlns:a16="http://schemas.microsoft.com/office/drawing/2014/main" id="{F8CE099D-E32C-441C-86B9-F2FFDEB2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상담한 61명도 검색한 180명 안에 들어 있습니다. 이 기록만으로는 가입 고객 전체나 메뉴를 열어 봤는지까지 알 수 없습니다.</a:t>
            </a:r>
          </a:p>
        </p:txBody>
      </p:sp>
    </p:spTree>
    <p:extLst>
      <p:ext uri="{BB962C8B-B14F-4D97-AF65-F5344CB8AC3E}">
        <p14:creationId xmlns:p14="http://schemas.microsoft.com/office/powerpoint/2010/main" val="17834439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확장 분석의 자동 추천은 도달 고객과 상담 고객에 집중했습니다">
            <a:extLst xmlns:a="http://schemas.openxmlformats.org/drawingml/2006/main">
              <a:ext uri="{FF2B5EF4-FFF2-40B4-BE49-F238E27FC236}">
                <a16:creationId xmlns:a16="http://schemas.microsoft.com/office/drawing/2014/main" id="{981B9A6B-0F0C-4ADB-B3C6-3DD97241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기록을 더 본 AI는 두 가지 행동을 골랐습니다</a:t>
            </a:r>
          </a:p>
        </p:txBody>
      </p:sp>
      <p:sp>
        <p:nvSpPr>
          <p:cNvPr id="2" name="최종 추천 API 후보 2개. 아래 이름은 관측 행동에 맞춰 정리했습니다.">
            <a:extLst xmlns:a="http://schemas.openxmlformats.org/drawingml/2006/main">
              <a:ext uri="{FF2B5EF4-FFF2-40B4-BE49-F238E27FC236}">
                <a16:creationId xmlns:a16="http://schemas.microsoft.com/office/drawing/2014/main" id="{EFF2F976-792F-49DB-83FF-B36136EF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AI가 마지막에 골라 준 내용입니다. 이름은 실제로 남은 행동 기록에 맞춰 적었습니다.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84BF30FF-D8D5-448C-87A6-0E071E81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24384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572000"/>
                <a:gridCol w="2019300"/>
                <a:gridCol w="4381500"/>
              </a:tblGrid>
              <a:tr h="81280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AI가 고른 행동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고객 수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알 수 있는 내용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81280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여러 메뉴를 거쳐</a:t>
                      </a:r>
                    </a:p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조회/해지 메뉴를 열어 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340명 중 243명</a:t>
                      </a:r>
                    </a:p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71.5%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여러 메뉴를 거친 기록은 있음</a:t>
                      </a:r>
                    </a:p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모두 헤맸는지는 알 수 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1280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부가서비스를 검색한 뒤</a:t>
                      </a:r>
                    </a:p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상담을 받음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180명 중 61명</a:t>
                      </a:r>
                    </a:p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33.9%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상담은 평균 5분 30초</a:t>
                      </a:r>
                    </a:p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61명 중 40명은 메뉴도 열어 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264명 = 243명 + 61명 − 40명">
            <a:extLst xmlns:a="http://schemas.openxmlformats.org/drawingml/2006/main">
              <a:ext uri="{FF2B5EF4-FFF2-40B4-BE49-F238E27FC236}">
                <a16:creationId xmlns:a16="http://schemas.microsoft.com/office/drawing/2014/main" id="{A73E0CD2-972C-4F5D-9BFF-B6DB84C5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264명 = 243명 + 61명 − 40명</a:t>
            </a:r>
          </a:p>
        </p:txBody>
      </p:sp>
      <p:sp>
        <p:nvSpPr>
          <p:cNvPr id="6" name="보고서 상단의 확정 고객 수는 두 패턴의 합집합입니다.">
            <a:extLst xmlns:a="http://schemas.openxmlformats.org/drawingml/2006/main">
              <a:ext uri="{FF2B5EF4-FFF2-40B4-BE49-F238E27FC236}">
                <a16:creationId xmlns:a16="http://schemas.microsoft.com/office/drawing/2014/main" id="{92294046-A9AC-4D39-B966-4B96A830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양쪽에 들어 있는 40명을 한 번만 세면 264명입니다.</a:t>
            </a:r>
          </a:p>
        </p:txBody>
      </p:sp>
      <p:sp>
        <p:nvSpPr>
          <p:cNvPr id="7" name="제한 분석의 120명과 패턴 정의가 다르므로, 120명에서 264명으로 문제">
            <a:extLst xmlns:a="http://schemas.openxmlformats.org/drawingml/2006/main">
              <a:ext uri="{FF2B5EF4-FFF2-40B4-BE49-F238E27FC236}">
                <a16:creationId xmlns:a16="http://schemas.microsoft.com/office/drawing/2014/main" id="{83CFEAB8-714A-427E-BBCA-70192920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처음의 120명과 나중의 264명은 고르는 기준이 다릅니다. 문제가 있는 고객이 늘었다고 볼 수는 없습니다.</a:t>
            </a:r>
          </a:p>
        </p:txBody>
      </p:sp>
    </p:spTree>
    <p:extLst>
      <p:ext uri="{BB962C8B-B14F-4D97-AF65-F5344CB8AC3E}">
        <p14:creationId xmlns:p14="http://schemas.microsoft.com/office/powerpoint/2010/main" val="19559674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확장 검증은 잘못된 이탈 추정을 걸러냈습니다">
            <a:extLst xmlns:a="http://schemas.openxmlformats.org/drawingml/2006/main">
              <a:ext uri="{FF2B5EF4-FFF2-40B4-BE49-F238E27FC236}">
                <a16:creationId xmlns:a16="http://schemas.microsoft.com/office/drawing/2014/main" id="{833F628D-C9E6-43A0-97DA-7A89BCF7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앱 기록을 보니, 처음 설명과 다른 점이 보였습니다</a:t>
            </a:r>
          </a:p>
        </p:txBody>
      </p:sp>
      <p:sp>
        <p:nvSpPr>
          <p:cNvPr id="2" name="메뉴 도달 기록을 결합해 조사 단계의 주장을 다시 확인했습니다.">
            <a:extLst xmlns:a="http://schemas.openxmlformats.org/drawingml/2006/main">
              <a:ext uri="{FF2B5EF4-FFF2-40B4-BE49-F238E27FC236}">
                <a16:creationId xmlns:a16="http://schemas.microsoft.com/office/drawing/2014/main" id="{E7ED785D-E4B3-465C-AD29-2BB4EB77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메뉴를 열어 본 기록과 맞춰 보니, AI의 처음 판단을 고쳐야 했습니다.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5DE01F4C-790B-41E2-B35D-BEEA4163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4" name="59명">
            <a:extLst xmlns:a="http://schemas.openxmlformats.org/drawingml/2006/main">
              <a:ext uri="{FF2B5EF4-FFF2-40B4-BE49-F238E27FC236}">
                <a16:creationId xmlns:a16="http://schemas.microsoft.com/office/drawing/2014/main" id="{849B35AD-DA70-4839-956B-5784EAC7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59명</a:t>
            </a:r>
          </a:p>
        </p:txBody>
      </p:sp>
      <p:sp>
        <p:nvSpPr>
          <p:cNvPr id="5" name="이탈 추정 기각">
            <a:extLst xmlns:a="http://schemas.openxmlformats.org/drawingml/2006/main">
              <a:ext uri="{FF2B5EF4-FFF2-40B4-BE49-F238E27FC236}">
                <a16:creationId xmlns:a16="http://schemas.microsoft.com/office/drawing/2014/main" id="{0CC2AD24-AB72-4A28-A260-7F3E616E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493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‘포기했다’는 설명을 뺐습니다</a:t>
            </a:r>
          </a:p>
        </p:txBody>
      </p:sp>
      <p:sp>
        <p:nvSpPr>
          <p:cNvPr id="6" name="반복 검색 실패 후 상담이 없던 고객&#10;59명 전원에게 목표 메뉴 도달 기록이">
            <a:extLst xmlns:a="http://schemas.openxmlformats.org/drawingml/2006/main">
              <a:ext uri="{FF2B5EF4-FFF2-40B4-BE49-F238E27FC236}">
                <a16:creationId xmlns:a16="http://schemas.microsoft.com/office/drawing/2014/main" id="{A2E2EBCD-B18A-4667-A7F8-654484E5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48958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검색을 반복한 뒤 상담하지 않은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59명 모두 조회/해지 메뉴를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열어 본 기록이 있었습니다.</a:t>
            </a:r>
          </a:p>
        </p:txBody>
      </p:sp>
      <p:sp>
        <p:nvSpPr>
          <p:cNvPr id="7" name="99명 / 120명">
            <a:extLst xmlns:a="http://schemas.openxmlformats.org/drawingml/2006/main">
              <a:ext uri="{FF2B5EF4-FFF2-40B4-BE49-F238E27FC236}">
                <a16:creationId xmlns:a16="http://schemas.microsoft.com/office/drawing/2014/main" id="{4C22C0B8-EFA8-4745-9887-95617AED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209800"/>
            <a:ext cx="509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125" b="1">
                <a:solidFill>
                  <a:srgbClr val="B54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B5472A"/>
                </a:solidFill>
                <a:latin typeface="Apple SD Gothic Neo"/>
                <a:ea typeface="Apple SD Gothic Neo"/>
                <a:cs typeface="Apple SD Gothic Neo"/>
              </a:rPr>
              <a:t>120명 중 99명</a:t>
            </a:r>
          </a:p>
        </p:txBody>
      </p:sp>
      <p:sp>
        <p:nvSpPr>
          <p:cNvPr id="8" name="메뉴 미도달 주장 보류">
            <a:extLst xmlns:a="http://schemas.openxmlformats.org/drawingml/2006/main">
              <a:ext uri="{FF2B5EF4-FFF2-40B4-BE49-F238E27FC236}">
                <a16:creationId xmlns:a16="http://schemas.microsoft.com/office/drawing/2014/main" id="{E67502C4-1348-450C-A838-30346AA4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086100"/>
            <a:ext cx="5095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‘못 찾았다’는 판단 보류</a:t>
            </a:r>
          </a:p>
        </p:txBody>
      </p:sp>
      <p:sp>
        <p:nvSpPr>
          <p:cNvPr id="9" name="검색 failed 120명 중 99명이&#10;메뉴에 도달했습니다. 검증자는&#10;후보를">
            <a:extLst xmlns:a="http://schemas.openxmlformats.org/drawingml/2006/main">
              <a:ext uri="{FF2B5EF4-FFF2-40B4-BE49-F238E27FC236}">
                <a16:creationId xmlns:a16="http://schemas.microsoft.com/office/drawing/2014/main" id="{1E3D8A9A-0AE5-439D-ACE5-019890BF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800475"/>
            <a:ext cx="5095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검색에 ‘실패’가 찍힌 120명 중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99명은 메뉴를 열어 봤습니다.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모두 못 찾았다고 할 수 없습니다.</a:t>
            </a:r>
          </a:p>
        </p:txBody>
      </p:sp>
      <p:sp>
        <p:nvSpPr>
          <p:cNvPr id="10" name="오른쪽 미확정 후보는 최종 추천 API에서 제외됐습니다. 메뉴 도달은 실제 ">
            <a:extLst xmlns:a="http://schemas.openxmlformats.org/drawingml/2006/main">
              <a:ext uri="{FF2B5EF4-FFF2-40B4-BE49-F238E27FC236}">
                <a16:creationId xmlns:a16="http://schemas.microsoft.com/office/drawing/2014/main" id="{ACAE4A40-23A3-4157-B642-E86A4472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오른쪽 주장은 AI가 마지막에 고른 답에서 뺐습니다. 메뉴를 열었다고 해서 해지를 끝냈다는 뜻은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8896631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활성 탐색 고객 340명 중 97명은 메뉴 도달 기록이 없습니다">
            <a:extLst xmlns:a="http://schemas.openxmlformats.org/drawingml/2006/main">
              <a:ext uri="{FF2B5EF4-FFF2-40B4-BE49-F238E27FC236}">
                <a16:creationId xmlns:a16="http://schemas.microsoft.com/office/drawing/2014/main" id="{30C699A4-F48F-4C20-9895-18F7C615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340명 중 97명은 조회/해지 메뉴를 연 기록이 없습니다</a:t>
            </a:r>
          </a:p>
        </p:txBody>
      </p:sp>
      <p:sp>
        <p:nvSpPr>
          <p:cNvPr id="2" name="독립 측정 결과. 모델의 최종 자동 추천에는 포함되지 않았습니다.">
            <a:extLst xmlns:a="http://schemas.openxmlformats.org/drawingml/2006/main">
              <a:ext uri="{FF2B5EF4-FFF2-40B4-BE49-F238E27FC236}">
                <a16:creationId xmlns:a16="http://schemas.microsoft.com/office/drawing/2014/main" id="{724C8501-72F5-42DD-B68B-37C23DE0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83E1D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83E1D0"/>
                </a:solidFill>
                <a:latin typeface="Apple SD Gothic Neo"/>
                <a:ea typeface="Apple SD Gothic Neo"/>
                <a:cs typeface="Apple SD Gothic Neo"/>
              </a:rPr>
              <a:t>가입 상태이고 앱 메뉴를 살펴본 고객만 셌습니다. AI가 놓친 결과를 따로 확인했습니다.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00668D5C-61BD-4FD1-A520-90AD8DD2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9BDC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9BDCE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42950" y="2019300"/>
          <a:ext xmlns:a="http://schemas.openxmlformats.org/drawingml/2006/main" cx="4762500" cy="3609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84b06e0dc54acb"/>
          </a:graphicData>
        </a:graphic>
      </p:graphicFrame>
      <p:sp>
        <p:nvSpPr>
          <p:cNvPr id="5" name="28.5%">
            <a:extLst xmlns:a="http://schemas.openxmlformats.org/drawingml/2006/main">
              <a:ext uri="{FF2B5EF4-FFF2-40B4-BE49-F238E27FC236}">
                <a16:creationId xmlns:a16="http://schemas.microsoft.com/office/drawing/2014/main" id="{98182DEC-1481-41B3-AFBD-988937C9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14550"/>
            <a:ext cx="48577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00" b="1">
                <a:solidFill>
                  <a:srgbClr val="83E1D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600" b="1">
                <a:solidFill>
                  <a:srgbClr val="83E1D0"/>
                </a:solidFill>
                <a:latin typeface="Apple SD Gothic Neo"/>
                <a:ea typeface="Apple SD Gothic Neo"/>
                <a:cs typeface="Apple SD Gothic Neo"/>
              </a:rPr>
              <a:t>28.5%</a:t>
            </a:r>
          </a:p>
        </p:txBody>
      </p:sp>
      <p:sp>
        <p:nvSpPr>
          <p:cNvPr id="6" name="97명 / 관측한 활성 탐색 고객 340명">
            <a:extLst xmlns:a="http://schemas.openxmlformats.org/drawingml/2006/main">
              <a:ext uri="{FF2B5EF4-FFF2-40B4-BE49-F238E27FC236}">
                <a16:creationId xmlns:a16="http://schemas.microsoft.com/office/drawing/2014/main" id="{0FBAEE7D-7F11-455E-922F-0E7250C9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95650"/>
            <a:ext cx="4972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이번에 살펴본 340명 중 97명</a:t>
            </a:r>
          </a:p>
        </p:txBody>
      </p:sp>
      <p:sp>
        <p:nvSpPr>
          <p:cNvPr id="7" name="이 중 16명은&#10;검색과 VOC에도 나타나지 않습니다.">
            <a:extLst xmlns:a="http://schemas.openxmlformats.org/drawingml/2006/main">
              <a:ext uri="{FF2B5EF4-FFF2-40B4-BE49-F238E27FC236}">
                <a16:creationId xmlns:a16="http://schemas.microsoft.com/office/drawing/2014/main" id="{781AB7FF-B94C-467B-A00D-69BDB332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86250"/>
            <a:ext cx="5048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그중 16명은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검색과 상담 기록도 없습니다.</a:t>
            </a:r>
          </a:p>
        </p:txBody>
      </p:sp>
      <p:sp>
        <p:nvSpPr>
          <p:cNvPr id="8" name="분모는 기간 내 활성 가입 기록과 앱 menu_view가 있는 고객입니다. ">
            <a:extLst xmlns:a="http://schemas.openxmlformats.org/drawingml/2006/main">
              <a:ext uri="{FF2B5EF4-FFF2-40B4-BE49-F238E27FC236}">
                <a16:creationId xmlns:a16="http://schemas.microsoft.com/office/drawing/2014/main" id="{5F0CEA62-C6EB-402E-9538-8A53F9F7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7D7E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C7D7E3"/>
                </a:solidFill>
                <a:latin typeface="Apple SD Gothic Neo"/>
                <a:ea typeface="Apple SD Gothic Neo"/>
                <a:cs typeface="Apple SD Gothic Neo"/>
              </a:rPr>
              <a:t>메뉴를 연 기록이 없다는 이유만으로 해지에 실패했다고 볼 수는 없습니다. 16명이 무엇을 하려 했는지도 더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7830013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메뉴 도달 미관측 고객의 16.5%는 지원 채널에도 없습니다">
            <a:extLst xmlns:a="http://schemas.openxmlformats.org/drawingml/2006/main">
              <a:ext uri="{FF2B5EF4-FFF2-40B4-BE49-F238E27FC236}">
                <a16:creationId xmlns:a16="http://schemas.microsoft.com/office/drawing/2014/main" id="{241EC63C-B215-4BD5-8777-0EBA5378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97명 중 16명은 검색과 상담 기록도 없습니다</a:t>
            </a:r>
          </a:p>
        </p:txBody>
      </p:sp>
      <p:sp>
        <p:nvSpPr>
          <p:cNvPr id="2" name="활성 가입과 앱 탐색 고객 340명의 채널 관측 및 메뉴 도달 교차 집계">
            <a:extLst xmlns:a="http://schemas.openxmlformats.org/drawingml/2006/main">
              <a:ext uri="{FF2B5EF4-FFF2-40B4-BE49-F238E27FC236}">
                <a16:creationId xmlns:a16="http://schemas.microsoft.com/office/drawing/2014/main" id="{BD10ADA3-3441-4D2D-B35E-95E75E7D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가입 상태이고 앱 메뉴를 살펴본 340명을 같은 기간의 기록으로 나눴습니다.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A26B8116-AD39-47B6-B10B-47C7B411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028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143500"/>
                <a:gridCol w="1657350"/>
                <a:gridCol w="2038350"/>
                <a:gridCol w="2133600"/>
              </a:tblGrid>
              <a:tr h="60579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검색이나 상담을 한 기록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고객 수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메뉴 기록 있음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메뉴 기록 없음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60579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검색도 하고 상담도 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검색만 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검색도 상담도 한 기록 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144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전체</a:t>
                      </a:r>
                    </a:p>
                  </a:txBody>
                  <a:tcPr marL="91440" marR="91440" marT="45720" marB="45720" anchor="ctr">
                    <a:solidFill>
                      <a:srgbClr val="E9F3F4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340</a:t>
                      </a:r>
                    </a:p>
                  </a:txBody>
                  <a:tcPr marL="91440" marR="91440" marT="45720" marB="45720" anchor="ctr">
                    <a:solidFill>
                      <a:srgbClr val="E9F3F4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243</a:t>
                      </a:r>
                    </a:p>
                  </a:txBody>
                  <a:tcPr marL="91440" marR="91440" marT="45720" marB="45720" anchor="ctr">
                    <a:solidFill>
                      <a:srgbClr val="E9F3F4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97</a:t>
                      </a:r>
                    </a:p>
                  </a:txBody>
                  <a:tcPr marL="91440" marR="91440" marT="45720" marB="45720" anchor="ctr">
                    <a:solidFill>
                      <a:srgbClr val="E9F3F4"/>
                    </a:solidFill>
                  </a:tcPr>
                </a:tc>
              </a:tr>
            </a:tbl>
          </a:graphicData>
        </a:graphic>
      </p:graphicFrame>
      <p:sp>
        <p:nvSpPr>
          <p:cNvPr id="5" name="16 / 97명 = 16.5%">
            <a:extLst xmlns:a="http://schemas.openxmlformats.org/drawingml/2006/main">
              <a:ext uri="{FF2B5EF4-FFF2-40B4-BE49-F238E27FC236}">
                <a16:creationId xmlns:a16="http://schemas.microsoft.com/office/drawing/2014/main" id="{9F251CEC-13D4-4E2F-A15A-59542A4E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4781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B54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B5472A"/>
                </a:solidFill>
                <a:latin typeface="Apple SD Gothic Neo"/>
                <a:ea typeface="Apple SD Gothic Neo"/>
                <a:cs typeface="Apple SD Gothic Neo"/>
              </a:rPr>
              <a:t>97명 중 16명, 약 16.5%</a:t>
            </a:r>
          </a:p>
        </p:txBody>
      </p:sp>
      <p:sp>
        <p:nvSpPr>
          <p:cNvPr id="6" name="지원 채널 데이터만으로 이 고객군의&#10;탐색 상태를 파악하기 어렵습니다.">
            <a:extLst xmlns:a="http://schemas.openxmlformats.org/drawingml/2006/main">
              <a:ext uri="{FF2B5EF4-FFF2-40B4-BE49-F238E27FC236}">
                <a16:creationId xmlns:a16="http://schemas.microsoft.com/office/drawing/2014/main" id="{8A00645D-C392-47C9-A351-C7F877EF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5400675"/>
            <a:ext cx="58007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검색과 상담 기록만 보면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이 16명이 어떻게 찾았는지 놓칩니다.</a:t>
            </a:r>
          </a:p>
        </p:txBody>
      </p:sp>
    </p:spTree>
    <p:extLst>
      <p:ext uri="{BB962C8B-B14F-4D97-AF65-F5344CB8AC3E}">
        <p14:creationId xmlns:p14="http://schemas.microsoft.com/office/powerpoint/2010/main" val="7062398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검색 상태는 메뉴 도달이나 해지 완료를 대신하지 못합니다">
            <a:extLst xmlns:a="http://schemas.openxmlformats.org/drawingml/2006/main">
              <a:ext uri="{FF2B5EF4-FFF2-40B4-BE49-F238E27FC236}">
                <a16:creationId xmlns:a16="http://schemas.microsoft.com/office/drawing/2014/main" id="{CF9D693B-EA87-44DA-A5D4-BF124608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검색에 ‘완료’가 찍혀도, 메뉴를 열었다는 뜻은 아닙니다</a:t>
            </a:r>
          </a:p>
        </p:txBody>
      </p:sp>
      <p:sp>
        <p:nvSpPr>
          <p:cNvPr id="2" name="검색 completed 60명에게는 메뉴 도달 기록이 없고, failed 1">
            <a:extLst xmlns:a="http://schemas.openxmlformats.org/drawingml/2006/main">
              <a:ext uri="{FF2B5EF4-FFF2-40B4-BE49-F238E27FC236}">
                <a16:creationId xmlns:a16="http://schemas.microsoft.com/office/drawing/2014/main" id="{A71D2ACA-6D96-476A-9EF7-29CCCD27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‘완료’ 60명은 메뉴 기록이 없고, 반복 검색 ‘실패’ 120명 중 99명은 메뉴 기록이 있습니다.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85A7E168-3040-4B8A-B7DC-AFA4009B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71500" y="2076450"/>
          <a:ext xmlns:a="http://schemas.openxmlformats.org/drawingml/2006/main" cx="7153275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c372bf75ae4410"/>
          </a:graphicData>
        </a:graphic>
      </p:graphicFrame>
      <p:sp>
        <p:nvSpPr>
          <p:cNvPr id="5" name="99명 전원">
            <a:extLst xmlns:a="http://schemas.openxmlformats.org/drawingml/2006/main">
              <a:ext uri="{FF2B5EF4-FFF2-40B4-BE49-F238E27FC236}">
                <a16:creationId xmlns:a16="http://schemas.microsoft.com/office/drawing/2014/main" id="{B6E6FC1E-36D8-4080-923B-DCF3114B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7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99명 모두</a:t>
            </a:r>
          </a:p>
        </p:txBody>
      </p:sp>
      <p:sp>
        <p:nvSpPr>
          <p:cNvPr id="6" name="첫 검색 이전에&#10;메뉴 도달 기록 확인">
            <a:extLst xmlns:a="http://schemas.openxmlformats.org/drawingml/2006/main">
              <a:ext uri="{FF2B5EF4-FFF2-40B4-BE49-F238E27FC236}">
                <a16:creationId xmlns:a16="http://schemas.microsoft.com/office/drawing/2014/main" id="{703F48FE-820A-4031-867A-263FBBC8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90875"/>
            <a:ext cx="3238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검색하기 전에 이미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메뉴를 열어 봤습니다.</a:t>
            </a:r>
          </a:p>
        </p:txBody>
      </p:sp>
      <p:sp>
        <p:nvSpPr>
          <p:cNvPr id="7" name="검색이 메뉴 도달을&#10;유발했다는 근거는 없습니다.">
            <a:extLst xmlns:a="http://schemas.openxmlformats.org/drawingml/2006/main">
              <a:ext uri="{FF2B5EF4-FFF2-40B4-BE49-F238E27FC236}">
                <a16:creationId xmlns:a16="http://schemas.microsoft.com/office/drawing/2014/main" id="{E55446F6-DB0B-459C-97F2-F03A271F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86275"/>
            <a:ext cx="323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검색 덕분에 메뉴를 찾았다고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말할 수는 없습니다.</a:t>
            </a:r>
          </a:p>
        </p:txBody>
      </p:sp>
      <p:sp>
        <p:nvSpPr>
          <p:cNvPr id="8" name="검색 상태, 메뉴 도달, 최종 업무 해결은 각각 별도의 관측값입니다.">
            <a:extLst xmlns:a="http://schemas.openxmlformats.org/drawingml/2006/main">
              <a:ext uri="{FF2B5EF4-FFF2-40B4-BE49-F238E27FC236}">
                <a16:creationId xmlns:a16="http://schemas.microsoft.com/office/drawing/2014/main" id="{EC8811CF-37C4-471C-8D4B-B8A0A026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검색에 붙은 표시, 메뉴를 열어 본 기록, 실제 해지 완료는 각각 따로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3226311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사용자에게 권고할 지표">
            <a:extLst xmlns:a="http://schemas.openxmlformats.org/drawingml/2006/main">
              <a:ext uri="{FF2B5EF4-FFF2-40B4-BE49-F238E27FC236}">
                <a16:creationId xmlns:a16="http://schemas.microsoft.com/office/drawing/2014/main" id="{03C2BB75-A047-41AC-A8CB-F0BA39CB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앞으로 살펴볼 숫자 네 가지</a:t>
            </a:r>
          </a:p>
        </p:txBody>
      </p:sp>
      <p:sp>
        <p:nvSpPr>
          <p:cNvPr id="2" name="확장 지표 2개는 원문의 별도 권고이며, 이번 모델의 자동 추천과 구분됩니다">
            <a:extLst xmlns:a="http://schemas.openxmlformats.org/drawingml/2006/main">
              <a:ext uri="{FF2B5EF4-FFF2-40B4-BE49-F238E27FC236}">
                <a16:creationId xmlns:a16="http://schemas.microsoft.com/office/drawing/2014/main" id="{FDA737D5-6CB6-4006-9809-EBC2AFDB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아래 두 항목은 기록을 따로 세어 제안한 내용입니다. 이번에 AI가 고른 답은 아닙니다.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B33F555B-AFFB-43FC-BE71-BCE61CDF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8290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66950"/>
                <a:gridCol w="6067425"/>
                <a:gridCol w="2638425"/>
              </a:tblGrid>
              <a:tr h="76581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어떤 기록으로 보나요?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무엇을 세나요?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현재 숫자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76581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검색과 상담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먼저 볼 숫자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내용을 여러 번 검색했고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검색에 ‘실패’가 찍힌 고객 비율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180명 중 120명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66.7%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검색과 상담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함께 볼 숫자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위 고객 중 상담까지 한 비율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120명 중 61명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50.8%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앱 이용, 가입 기록도 추가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먼저 볼 숫자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가입 상태이고 앱을 살펴본 고객 중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조회/해지 메뉴를 연 기록이 없는 비율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340명 중 97명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28.53%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앱 이용, 가입 기록도 추가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함께 볼 숫자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메뉴를 연 기록이 없는 고객 중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검색과 상담 기록도 없는 사람 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97명 중 16명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16.5%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상담 전환은 상담 부담을, 메뉴 도달 미관측은 관측 공백을 나타냅니다. 실제">
            <a:extLst xmlns:a="http://schemas.openxmlformats.org/drawingml/2006/main">
              <a:ext uri="{FF2B5EF4-FFF2-40B4-BE49-F238E27FC236}">
                <a16:creationId xmlns:a16="http://schemas.microsoft.com/office/drawing/2014/main" id="{E606E120-D98E-4927-98AE-44E9A8FB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상담이 얼마나 필요한지, 메뉴를 연 기록이 없는 고객은 얼마나 되는지 보여줍니다. 실제로 해결했는지는 따로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3707373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자동 추천 품질의 보완 과제">
            <a:extLst xmlns:a="http://schemas.openxmlformats.org/drawingml/2006/main">
              <a:ext uri="{FF2B5EF4-FFF2-40B4-BE49-F238E27FC236}">
                <a16:creationId xmlns:a16="http://schemas.microsoft.com/office/drawing/2014/main" id="{6ADF03E2-CAC8-4632-9E2E-1FB62C84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AI의 설명에서 고칠 점</a:t>
            </a:r>
          </a:p>
        </p:txBody>
      </p:sp>
      <p:sp>
        <p:nvSpPr>
          <p:cNvPr id="2" name="수치 재현과 후보의 이름, 비교군, 원인 설명은 별도로 검증해야 합니다.">
            <a:extLst xmlns:a="http://schemas.openxmlformats.org/drawingml/2006/main">
              <a:ext uri="{FF2B5EF4-FFF2-40B4-BE49-F238E27FC236}">
                <a16:creationId xmlns:a16="http://schemas.microsoft.com/office/drawing/2014/main" id="{D4DA9A15-F93C-4EC3-9615-DCD2973C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숫자를 맞게 세었어도, 그 숫자를 설명하는 말은 틀릴 수 있습니다.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7505ADD1-3F1E-4728-BE3F-D94B7BBB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9CD98FAB-D336-48D4-B1C9-FB28FE23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5" name="핵심 발견 누락">
            <a:extLst xmlns:a="http://schemas.openxmlformats.org/drawingml/2006/main">
              <a:ext uri="{FF2B5EF4-FFF2-40B4-BE49-F238E27FC236}">
                <a16:creationId xmlns:a16="http://schemas.microsoft.com/office/drawing/2014/main" id="{47DB6E59-BE2E-4495-88A9-E511706B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019300"/>
            <a:ext cx="280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중요한 숫자를 놓침</a:t>
            </a:r>
          </a:p>
        </p:txBody>
      </p:sp>
      <p:sp>
        <p:nvSpPr>
          <p:cNvPr id="6" name="97/340명과 16명을 자동 추천에서 놓쳤습니다.&#10;활성 탐색 모집단에서 미">
            <a:extLst xmlns:a="http://schemas.openxmlformats.org/drawingml/2006/main">
              <a:ext uri="{FF2B5EF4-FFF2-40B4-BE49-F238E27FC236}">
                <a16:creationId xmlns:a16="http://schemas.microsoft.com/office/drawing/2014/main" id="{8D895C9C-103B-4AB0-B15C-D15F54DA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19300"/>
            <a:ext cx="71342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340명 중 97명, 그리고 그 안의 16명을 알려주지 못했습니다.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가입 상태이고 앱을 살펴본 고객 전체에서 다시 찾아야 합니다.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7FEB7996-D5E8-42EF-9EBF-7CE234A6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8" name="정상 비교군 오류">
            <a:extLst xmlns:a="http://schemas.openxmlformats.org/drawingml/2006/main">
              <a:ext uri="{FF2B5EF4-FFF2-40B4-BE49-F238E27FC236}">
                <a16:creationId xmlns:a16="http://schemas.microsoft.com/office/drawing/2014/main" id="{A67507BE-F923-4D4B-B99B-A7B8C4CC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952750"/>
            <a:ext cx="280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고객을 잘못 나눔</a:t>
            </a:r>
          </a:p>
        </p:txBody>
      </p:sp>
      <p:sp>
        <p:nvSpPr>
          <p:cNvPr id="9" name="미도달 97명 중 81명은 검색했고, 21명은 해지 상담을 했습니다.&#10;다른 ">
            <a:extLst xmlns:a="http://schemas.openxmlformats.org/drawingml/2006/main">
              <a:ext uri="{FF2B5EF4-FFF2-40B4-BE49-F238E27FC236}">
                <a16:creationId xmlns:a16="http://schemas.microsoft.com/office/drawing/2014/main" id="{7D64285A-80AD-4010-958F-169D364A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52750"/>
            <a:ext cx="71342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메뉴 기록이 없는 97명 중 81명은 검색했고, 21명은 해지 상담을 했습니다.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이들을 모두 “다른 볼일로 온 고객”이라고 설명하기 어렵습니다.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9F0BC2B1-4F93-406B-8920-0130E140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1" name="CTA 원인 단정">
            <a:extLst xmlns:a="http://schemas.openxmlformats.org/drawingml/2006/main">
              <a:ext uri="{FF2B5EF4-FFF2-40B4-BE49-F238E27FC236}">
                <a16:creationId xmlns:a16="http://schemas.microsoft.com/office/drawing/2014/main" id="{83D4DEA6-0BEE-4E60-99D6-BD70E5C4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886200"/>
            <a:ext cx="280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이유를 너무 빨리 단정</a:t>
            </a:r>
          </a:p>
        </p:txBody>
      </p:sp>
      <p:sp>
        <p:nvSpPr>
          <p:cNvPr id="12" name="화면, CTA 노출과 클릭, 실험 근거가 없습니다.&#10;관측 행동과 원인 가설을">
            <a:extLst xmlns:a="http://schemas.openxmlformats.org/drawingml/2006/main">
              <a:ext uri="{FF2B5EF4-FFF2-40B4-BE49-F238E27FC236}">
                <a16:creationId xmlns:a16="http://schemas.microsoft.com/office/drawing/2014/main" id="{73855B5C-F46C-47EE-AD22-3082D61F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86200"/>
            <a:ext cx="71342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버튼이 없어서 생긴 문제라고 말할 근거가 없습니다.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직접 확인한 사실과 추측을 나눠 설명해야 합니다.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357A9F86-86B8-4C89-B2D8-ADE532AE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4" name="중복 및 정의 불일치">
            <a:extLst xmlns:a="http://schemas.openxmlformats.org/drawingml/2006/main">
              <a:ext uri="{FF2B5EF4-FFF2-40B4-BE49-F238E27FC236}">
                <a16:creationId xmlns:a16="http://schemas.microsoft.com/office/drawing/2014/main" id="{B374C8E0-72CA-4D48-A9AF-C0A86A27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819650"/>
            <a:ext cx="280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같은 고객을 두 번 추천</a:t>
            </a:r>
          </a:p>
        </p:txBody>
      </p:sp>
      <p:sp>
        <p:nvSpPr>
          <p:cNvPr id="15" name="제한 후보 2개의 고객 집합이 같습니다. 확장 후보 SQL은&#10;제목의 세션 내">
            <a:extLst xmlns:a="http://schemas.openxmlformats.org/drawingml/2006/main">
              <a:ext uri="{FF2B5EF4-FFF2-40B4-BE49-F238E27FC236}">
                <a16:creationId xmlns:a16="http://schemas.microsoft.com/office/drawing/2014/main" id="{718ED4D3-5A12-4ABB-93BB-39DB5C9E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19650"/>
            <a:ext cx="71342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검색과 상담만 본 AI는 같은 120명을 다른 이름으로 두 번 골랐습니다.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기록을 더 본 AI도 제목에 쓴 방문 순서와 반복 횟수를 직접 세지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11785769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사용자에게 전달할 인사이트">
            <a:extLst xmlns:a="http://schemas.openxmlformats.org/drawingml/2006/main">
              <a:ext uri="{FF2B5EF4-FFF2-40B4-BE49-F238E27FC236}">
                <a16:creationId xmlns:a16="http://schemas.microsoft.com/office/drawing/2014/main" id="{6DB19EC9-D450-4C65-A2D5-9C44A717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사용자에게 이렇게 설명할 수 있습니다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59BFF36B-1798-45C9-A347-DDDEAEB3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9BDC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9BDCE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3" name="관측한 활성 부가서비스 고객 340명 중&#10;97명은 앱 메뉴를 탐색했지만&#10;조회">
            <a:extLst xmlns:a="http://schemas.openxmlformats.org/drawingml/2006/main">
              <a:ext uri="{FF2B5EF4-FFF2-40B4-BE49-F238E27FC236}">
                <a16:creationId xmlns:a16="http://schemas.microsoft.com/office/drawing/2014/main" id="{88253F0E-E014-402F-AB70-FF650548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1097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가입 상태이고 앱을 살펴본 340명 중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97명은 부가서비스 조회/해지 메뉴를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열어 본 기록이 없습니다.</a:t>
            </a:r>
          </a:p>
        </p:txBody>
      </p:sp>
      <p:sp>
        <p:nvSpPr>
          <p:cNvPr id="4" name="이 중 16명은 검색과 상담에도 나타나지 않아&#10;지원 채널 데이터만으로 탐색 ">
            <a:extLst xmlns:a="http://schemas.openxmlformats.org/drawingml/2006/main">
              <a:ext uri="{FF2B5EF4-FFF2-40B4-BE49-F238E27FC236}">
                <a16:creationId xmlns:a16="http://schemas.microsoft.com/office/drawing/2014/main" id="{1D2C643D-89DF-43FA-A419-BAF02EF3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83E1D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83E1D0"/>
                </a:solidFill>
                <a:latin typeface="Apple SD Gothic Neo"/>
                <a:ea typeface="Apple SD Gothic Neo"/>
                <a:cs typeface="Apple SD Gothic Neo"/>
              </a:rPr>
              <a:t>그중 16명은 검색과 상담 기록도 없습니다.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83E1D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83E1D0"/>
                </a:solidFill>
                <a:latin typeface="Apple SD Gothic Neo"/>
                <a:ea typeface="Apple SD Gothic Neo"/>
                <a:cs typeface="Apple SD Gothic Neo"/>
              </a:rPr>
              <a:t>검색과 상담만 보면 이 사람들이 어떻게 찾았는지 알기 어렵습니다.</a:t>
            </a:r>
          </a:p>
        </p:txBody>
      </p:sp>
      <p:sp>
        <p:nvSpPr>
          <p:cNvPr id="5" name="16명의 실제 조회/해지 의도와 최종 업무 해결 여부는 추가 확인이 필요합니">
            <a:extLst xmlns:a="http://schemas.openxmlformats.org/drawingml/2006/main">
              <a:ext uri="{FF2B5EF4-FFF2-40B4-BE49-F238E27FC236}">
                <a16:creationId xmlns:a16="http://schemas.microsoft.com/office/drawing/2014/main" id="{DF9CE139-516E-4B13-B525-87DE5999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7D7E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C7D7E3"/>
                </a:solidFill>
                <a:latin typeface="Apple SD Gothic Neo"/>
                <a:ea typeface="Apple SD Gothic Neo"/>
                <a:cs typeface="Apple SD Gothic Neo"/>
              </a:rPr>
              <a:t>이 16명이 실제로 확인이나 해지를 하려 했는지, 필요한 일을 끝냈는지는 더 알아봐야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2744806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부록 1. 고객 수와 비율의 분모">
            <a:extLst xmlns:a="http://schemas.openxmlformats.org/drawingml/2006/main">
              <a:ext uri="{FF2B5EF4-FFF2-40B4-BE49-F238E27FC236}">
                <a16:creationId xmlns:a16="http://schemas.microsoft.com/office/drawing/2014/main" id="{43A90344-85C7-4281-BC29-A7C86B32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더 알아보기 1. 누구를 기준으로 세었나요?</a:t>
            </a:r>
          </a:p>
        </p:txBody>
      </p:sp>
      <p:sp>
        <p:nvSpPr>
          <p:cNvPr id="2" name="같은 숫자라도 집합과 분모를 먼저 확인해야 합니다.">
            <a:extLst xmlns:a="http://schemas.openxmlformats.org/drawingml/2006/main">
              <a:ext uri="{FF2B5EF4-FFF2-40B4-BE49-F238E27FC236}">
                <a16:creationId xmlns:a16="http://schemas.microsoft.com/office/drawing/2014/main" id="{DE03F439-05AB-48E8-A91F-EEF247D2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같은 61명도 어느 사람들 안에서 세느냐에 따라 비율이 달라집니다.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3C0995C3-7F46-4558-B38B-B29415FC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0384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905250"/>
                <a:gridCol w="3238500"/>
                <a:gridCol w="3829050"/>
              </a:tblGrid>
              <a:tr h="60769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어떤 숫자인가요?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계산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누구를 기준으로 하나요?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60769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검색을 반복한 뒤 상담한 비율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120명 중 61명 = 50.8%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반복 검색에 ‘실패’가 찍힌 120명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769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검색한 뒤 상담한 비율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180명 중 61명 = 33.9%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검색한 모든 고객 180명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769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기록을 더 본 AI가 확인한 고객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243 + 61 − 40 = 264명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메뉴를 거쳐 도착했거나 상담한 고객</a:t>
                      </a:r>
                    </a:p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겹치는 40명은 한 번만 계산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769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검색과 상담 기록도 없는 비율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97명 중 16명 = 16.5%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메뉴를 연 기록이 없는 97명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제한 120명과 확장 264명은 서로 다른 패턴의 고객 집합입니다.">
            <a:extLst xmlns:a="http://schemas.openxmlformats.org/drawingml/2006/main">
              <a:ext uri="{FF2B5EF4-FFF2-40B4-BE49-F238E27FC236}">
                <a16:creationId xmlns:a16="http://schemas.microsoft.com/office/drawing/2014/main" id="{55A35663-3143-4343-8E21-34CB9926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처음의 120명과 나중의 264명은 서로 다른 기준으로 고른 사람들입니다.</a:t>
            </a:r>
          </a:p>
        </p:txBody>
      </p:sp>
      <p:sp>
        <p:nvSpPr>
          <p:cNvPr id="6" name="검색 180명과 상담 61명은 더하지 않습니다. 확장 미확정 120명도 확정">
            <a:extLst xmlns:a="http://schemas.openxmlformats.org/drawingml/2006/main">
              <a:ext uri="{FF2B5EF4-FFF2-40B4-BE49-F238E27FC236}">
                <a16:creationId xmlns:a16="http://schemas.microsoft.com/office/drawing/2014/main" id="{2FD5E9ED-EB4A-459E-87F5-DC6B00F9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검색한 180명과 상담한 61명을 더하면 중복됩니다. 판단을 미룬 120명도 확정한 264명과 겹칩니다.</a:t>
            </a:r>
          </a:p>
        </p:txBody>
      </p:sp>
    </p:spTree>
    <p:extLst>
      <p:ext uri="{BB962C8B-B14F-4D97-AF65-F5344CB8AC3E}">
        <p14:creationId xmlns:p14="http://schemas.microsoft.com/office/powerpoint/2010/main" val="12146494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부록 2. 실행 규모와 소요 시간">
            <a:extLst xmlns:a="http://schemas.openxmlformats.org/drawingml/2006/main">
              <a:ext uri="{FF2B5EF4-FFF2-40B4-BE49-F238E27FC236}">
                <a16:creationId xmlns:a16="http://schemas.microsoft.com/office/drawing/2014/main" id="{7C17FDA9-CA3B-4BDF-91F9-29B1BB8B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더 알아보기 2. 얼마나 오래 걸렸나요?</a:t>
            </a:r>
          </a:p>
        </p:txBody>
      </p:sp>
      <p:sp>
        <p:nvSpPr>
          <p:cNvPr id="2" name="동일 모델로 성공한 순차 재시도를 비교했습니다.">
            <a:extLst xmlns:a="http://schemas.openxmlformats.org/drawingml/2006/main">
              <a:ext uri="{FF2B5EF4-FFF2-40B4-BE49-F238E27FC236}">
                <a16:creationId xmlns:a16="http://schemas.microsoft.com/office/drawing/2014/main" id="{92E6814F-A789-4D68-B414-00B5FCCA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같은 AI로 한 번씩 차례대로 실행해 끝까지 마친 결과입니다.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0BA6F587-7003-4938-A9FE-0A79C1F9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914525"/>
          <a:ext xmlns:a="http://schemas.openxmlformats.org/drawingml/2006/main" cx="10972800" cy="3752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81300"/>
                <a:gridCol w="4095750"/>
                <a:gridCol w="4095750"/>
              </a:tblGrid>
              <a:tr h="62547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비교 항목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검색과 상담만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앱 이용, 가입 기록도 추가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62547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끝날 때까지 걸린 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약 5분 44초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약 11분 24초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547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AI가 읽은 기록 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기록 945개, 자료 종류 2개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기록 7,996개, 자료 종류 4개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547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각 역할을 실행한 횟수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계획 1회, 찾기 3회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 3회, 정리 1회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계획 1회, 찾기 3회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 4회, 정리 1회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547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저장된 자료에 물어본 횟수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116번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177번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547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AI가 마지막에 골라 준 내용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3개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그중 2개는 같은 사람들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초기 동시 실행 2건은 일부 응답이 10분 이상 대기해 중단했습니다. 코드,">
            <a:extLst xmlns:a="http://schemas.openxmlformats.org/drawingml/2006/main">
              <a:ext uri="{FF2B5EF4-FFF2-40B4-BE49-F238E27FC236}">
                <a16:creationId xmlns:a16="http://schemas.microsoft.com/office/drawing/2014/main" id="{6E693167-7FC7-4715-90F5-53139901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처음에는 두 분석을 동시에 돌렸지만 일부 응답이 10분 넘게 없어 중단했습니다. 비교 중 프로그램, 자료, AI 설정은 바꾸지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20207772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부록 3. 검증 범위와 재현 근거">
            <a:extLst xmlns:a="http://schemas.openxmlformats.org/drawingml/2006/main">
              <a:ext uri="{FF2B5EF4-FFF2-40B4-BE49-F238E27FC236}">
                <a16:creationId xmlns:a16="http://schemas.microsoft.com/office/drawing/2014/main" id="{9585EDEF-513B-44FE-9C9D-636DE462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더 알아보기 3. 무엇을 확인했나요?</a:t>
            </a:r>
          </a:p>
        </p:txBody>
      </p:sp>
      <p:sp>
        <p:nvSpPr>
          <p:cNvPr id="2" name="실행과 측정 검증을 마쳤으며, 서술상의 오류는 별도로 평가했습니다.">
            <a:extLst xmlns:a="http://schemas.openxmlformats.org/drawingml/2006/main">
              <a:ext uri="{FF2B5EF4-FFF2-40B4-BE49-F238E27FC236}">
                <a16:creationId xmlns:a16="http://schemas.microsoft.com/office/drawing/2014/main" id="{5D5D703F-0D85-432B-94A7-1BC5831D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분석이 잘 끝났는지, 숫자가 맞는지 확인했습니다. AI의 설명도 따로 살폈습니다.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23658B6D-6845-4E80-B257-58B56AFE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4" name="검증한 항목">
            <a:extLst xmlns:a="http://schemas.openxmlformats.org/drawingml/2006/main">
              <a:ext uri="{FF2B5EF4-FFF2-40B4-BE49-F238E27FC236}">
                <a16:creationId xmlns:a16="http://schemas.microsoft.com/office/drawing/2014/main" id="{4727A641-8EB2-44C0-AF4D-9A4EC615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확인한 내용</a:t>
            </a:r>
          </a:p>
        </p:txBody>
      </p:sp>
      <p:sp>
        <p:nvSpPr>
          <p:cNvPr id="5" name="완료 상태와 요청 동일성&#10;Source 및 기간 제한, 정답 라벨 마스킹&#10;SS">
            <a:extLst xmlns:a="http://schemas.openxmlformats.org/drawingml/2006/main">
              <a:ext uri="{FF2B5EF4-FFF2-40B4-BE49-F238E27FC236}">
                <a16:creationId xmlns:a16="http://schemas.microsoft.com/office/drawing/2014/main" id="{B5C31B22-65C7-4FDC-A07C-E2B04A40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3721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끝까지 실행됐는지, 질문은 같았는지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정해 둔 자료와 기간만 봤는지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AI에게 정답을 숨겼는지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결과 받기와 다운로드가 되는지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AI가 센 고객 수가 맞는지</a:t>
            </a:r>
          </a:p>
        </p:txBody>
      </p:sp>
      <p:sp>
        <p:nvSpPr>
          <p:cNvPr id="6" name="해석할 때의 조건">
            <a:extLst xmlns:a="http://schemas.openxmlformats.org/drawingml/2006/main">
              <a:ext uri="{FF2B5EF4-FFF2-40B4-BE49-F238E27FC236}">
                <a16:creationId xmlns:a16="http://schemas.microsoft.com/office/drawing/2014/main" id="{5A87E603-4B11-4246-9ACC-3C7D3331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09775"/>
            <a:ext cx="504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알아둘 점</a:t>
            </a:r>
          </a:p>
        </p:txBody>
      </p:sp>
      <p:sp>
        <p:nvSpPr>
          <p:cNvPr id="7" name="기존 등록 시그널 3개의 지식 유지&#10;독립 측정값은 모델 입력에 미전달&#10;권고 ">
            <a:extLst xmlns:a="http://schemas.openxmlformats.org/drawingml/2006/main">
              <a:ext uri="{FF2B5EF4-FFF2-40B4-BE49-F238E27FC236}">
                <a16:creationId xmlns:a16="http://schemas.microsoft.com/office/drawing/2014/main" id="{53626B72-7EDF-4B28-83CB-8DBB7B02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647950"/>
            <a:ext cx="50482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이전에 알려준 기준 3개는 유지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따로 센 숫자는 AI에게 알려주지 않음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새 기준을 서비스에 등록하지 않음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해커톤용 가상 고객 기록으로 실행</a:t>
            </a:r>
          </a:p>
        </p:txBody>
      </p:sp>
      <p:sp>
        <p:nvSpPr>
          <p:cNvPr id="8" name="제한 Run ID">
            <a:extLst xmlns:a="http://schemas.openxmlformats.org/drawingml/2006/main">
              <a:ext uri="{FF2B5EF4-FFF2-40B4-BE49-F238E27FC236}">
                <a16:creationId xmlns:a16="http://schemas.microsoft.com/office/drawing/2014/main" id="{5F4CC7ED-C55B-4B8C-883B-BEECE855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619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첫 번째 실행 번호</a:t>
            </a:r>
          </a:p>
        </p:txBody>
      </p:sp>
      <p:sp>
        <p:nvSpPr>
          <p:cNvPr id="9" name="cd9ec858-c7b7-4bcd-8143-d69398fc7111">
            <a:extLst xmlns:a="http://schemas.openxmlformats.org/drawingml/2006/main">
              <a:ext uri="{FF2B5EF4-FFF2-40B4-BE49-F238E27FC236}">
                <a16:creationId xmlns:a16="http://schemas.microsoft.com/office/drawing/2014/main" id="{8DD03381-03A7-40C1-AEF7-1CE800FE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810125"/>
            <a:ext cx="8915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cd9ec858-c7b7-4bcd-8143-d69398fc7111</a:t>
            </a:r>
          </a:p>
        </p:txBody>
      </p:sp>
      <p:sp>
        <p:nvSpPr>
          <p:cNvPr id="10" name="확장 Run ID">
            <a:extLst xmlns:a="http://schemas.openxmlformats.org/drawingml/2006/main">
              <a:ext uri="{FF2B5EF4-FFF2-40B4-BE49-F238E27FC236}">
                <a16:creationId xmlns:a16="http://schemas.microsoft.com/office/drawing/2014/main" id="{E62DE0DD-27E4-49A8-8495-EE927462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619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두 번째 실행 번호</a:t>
            </a:r>
          </a:p>
        </p:txBody>
      </p:sp>
      <p:sp>
        <p:nvSpPr>
          <p:cNvPr id="11" name="0eb99d5a-b720-42d5-a46a-add08e0363a6">
            <a:extLst xmlns:a="http://schemas.openxmlformats.org/drawingml/2006/main">
              <a:ext uri="{FF2B5EF4-FFF2-40B4-BE49-F238E27FC236}">
                <a16:creationId xmlns:a16="http://schemas.microsoft.com/office/drawing/2014/main" id="{FE0B7144-FAF7-4273-858E-0B3360F8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76850"/>
            <a:ext cx="8915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0eb99d5a-b720-42d5-a46a-add08e0363a6</a:t>
            </a:r>
          </a:p>
        </p:txBody>
      </p:sp>
      <p:sp>
        <p:nvSpPr>
          <p:cNvPr id="12" name="근거 파일명과 세부 조건은 발표자 노트에 정리했습니다.">
            <a:extLst xmlns:a="http://schemas.openxmlformats.org/drawingml/2006/main">
              <a:ext uri="{FF2B5EF4-FFF2-40B4-BE49-F238E27FC236}">
                <a16:creationId xmlns:a16="http://schemas.microsoft.com/office/drawing/2014/main" id="{7553D5D3-BA91-4B4D-9A4F-AE65E258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발표자 노트에 자세한 설명과 원래 자료의 파일 이름을 적었습니다.</a:t>
            </a:r>
          </a:p>
        </p:txBody>
      </p:sp>
    </p:spTree>
    <p:extLst>
      <p:ext uri="{BB962C8B-B14F-4D97-AF65-F5344CB8AC3E}">
        <p14:creationId xmlns:p14="http://schemas.microsoft.com/office/powerpoint/2010/main" val="5681341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2026-09-10T11:37:23.8860000Z</dcterms:created>
  <dcterms:modified xsi:type="dcterms:W3CDTF">2026-09-10T11:37:23.8860000Z</dcterms:modified>
</coreProperties>
</file>